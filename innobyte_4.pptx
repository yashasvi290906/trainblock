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Defend: idle-day split from CAG 2022 Table 2.4.1: 38,088 (32%) + 35,944 (30%) of 1,20,135 idle machine-days. Not planned (30%): the planner builds the demand from overdue tasks; not given (32%): we only supply cost information to the approver, we cannot grant blocks. ~50% shortage: CAG 2018 para 3.5. The 3-to-1 diagram and the 120-minute block are illustrations with assumed numbers, not results. Q: What does AI do? Safety rules set tiers; ML ranks inside a tier; CP-SAT schedules; a human approves.</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Fill the Prototype status panel with TRUE status only. If nothing runs by the deadline, replace it with an honest 'in development' line. Example output panel is illustrative with assumed data; replace it with a real screenshot of the prototype's plan when available. Q: Where does data come from? Synthetic data calibrated to CAG figures, with adapter interfaces for TMS, SMMS, TDMS, COA. Q: Why CP-SAT? Hard constraints and combinatorial scheduling need feasible schedules, not just predictions. Q: What does XGBoost predict? A ranking score inside a safety tier; if the team cannot defend it, remove it and use rule-based ranking. PostGIS stores positions; the scheduling is CP-SAT.</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Q: Overrun? Prevent with hard premium limits and margins; react by recomputing open windows and recommending a re-plan (later phase). Q: Live integration? Not now; needs authorisation; prototype uses synthetic data and adapter interfaces. Train classes are configurable; the deck makes no assumption about railway operating policy.</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Chart arithmetic (CAG 2022 Table 2.4.1): available 7,54,820 machine-days; idle 1,20,135; blocks not given 38,088 plus not planned 35,944 = 74,032 = 9.8%. Y (loss under our plan) must come from the team's own backtest; do not print a number that the backtest did not produce. 167 of 395: Table 3.3.1; the executive summary quotes different totals, so cite the table.</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Open every link before submitting. Peng &amp; Ouyang 2014 volume and pages come from two independent reference lists; confirm the article DOI on the publisher page.</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 ID must be copied from the portal. Team name as registered: InnoByte.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hyperlink" Target="https://cag.gov.in/en/audit-report/details/117808" TargetMode="External"/><Relationship Id="rId5" Type="http://schemas.openxmlformats.org/officeDocument/2006/relationships/hyperlink" Target="https://cag.gov.in/rly/chennai/en/audit-report/details/43219" TargetMode="External"/><Relationship Id="rId6" Type="http://schemas.openxmlformats.org/officeDocument/2006/relationships/hyperlink" Target="https://indianrailways.gov.in/railwayboard/uploads/codesmanual/IRTMM-RDSO/TMM_Ch/TMM_Ch_5.html" TargetMode="External"/><Relationship Id="rId7" Type="http://schemas.openxmlformats.org/officeDocument/2006/relationships/hyperlink" Target="https://eparlib.sansad.in/bitstream/123456789/2994555/1/AU2809_2K8a1e.pdf" TargetMode="External"/><Relationship Id="rId8" Type="http://schemas.openxmlformats.org/officeDocument/2006/relationships/hyperlink" Target="https://doi.org/10.1016/j.trc.2016.11.016" TargetMode="External"/><Relationship Id="rId9" Type="http://schemas.openxmlformats.org/officeDocument/2006/relationships/hyperlink" Target="https://doi.org/10.1016/j.jrtpm.2018.02.001" TargetMode="External"/><Relationship Id="rId10" Type="http://schemas.openxmlformats.org/officeDocument/2006/relationships/hyperlink" Target="https://doi.org/10.1016/j.cie.2017.12.01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29184" y="1737360"/>
            <a:ext cx="6035040" cy="4703019"/>
          </a:xfrm>
          <a:prstGeom prst="rect">
            <a:avLst/>
          </a:prstGeom>
          <a:noFill/>
        </p:spPr>
        <p:txBody>
          <a:bodyPr wrap="square" rtlCol="0">
            <a:spAutoFit/>
          </a:bodyPr>
          <a:lstStyle/>
          <a:p>
            <a:pPr algn="l" marL="274320" indent="-274320">
              <a:lnSpc>
                <a:spcPct val="125000"/>
              </a:lnSpc>
              <a:spcAft>
                <a:spcPts val="900"/>
              </a:spcAft>
              <a:buFont typeface="Arial"/>
              <a:buChar char="•"/>
            </a:pPr>
            <a:r>
              <a:rPr sz="1800" b="1" i="0">
                <a:solidFill>
                  <a:srgbClr val="1A1A1A"/>
                </a:solidFill>
                <a:latin typeface="Arial"/>
              </a:rPr>
              <a:t>Problem Statement ID – </a:t>
            </a:r>
            <a:r>
              <a:rPr sz="1800" b="0" i="0">
                <a:solidFill>
                  <a:srgbClr val="1A1A1A"/>
                </a:solidFill>
                <a:latin typeface="Arial"/>
              </a:rPr>
              <a:t>26027</a:t>
            </a:r>
          </a:p>
          <a:p>
            <a:pPr algn="l" marL="274320" indent="-274320">
              <a:lnSpc>
                <a:spcPct val="125000"/>
              </a:lnSpc>
              <a:spcAft>
                <a:spcPts val="900"/>
              </a:spcAft>
              <a:buFont typeface="Arial"/>
              <a:buChar char="•"/>
            </a:pPr>
            <a:r>
              <a:rPr sz="1800" b="1" i="0">
                <a:solidFill>
                  <a:srgbClr val="1A1A1A"/>
                </a:solidFill>
                <a:latin typeface="Arial"/>
              </a:rPr>
              <a:t>Problem Statement Title- </a:t>
            </a:r>
            <a:r>
              <a:rPr sz="1800" b="0" i="0">
                <a:solidFill>
                  <a:srgbClr val="1A1A1A"/>
                </a:solidFill>
                <a:latin typeface="Arial"/>
              </a:rPr>
              <a:t>AI-Powered Automatic Block Planning to Maximize Asset Availability for Train Operations on Indian Railways</a:t>
            </a:r>
          </a:p>
          <a:p>
            <a:pPr algn="l" marL="274320" indent="-274320">
              <a:lnSpc>
                <a:spcPct val="125000"/>
              </a:lnSpc>
              <a:spcAft>
                <a:spcPts val="900"/>
              </a:spcAft>
              <a:buFont typeface="Arial"/>
              <a:buChar char="•"/>
            </a:pPr>
            <a:r>
              <a:rPr sz="1800" b="1" i="0">
                <a:solidFill>
                  <a:srgbClr val="1A1A1A"/>
                </a:solidFill>
                <a:latin typeface="Arial"/>
              </a:rPr>
              <a:t>Theme- </a:t>
            </a:r>
            <a:r>
              <a:rPr sz="1800" b="0" i="0">
                <a:solidFill>
                  <a:srgbClr val="1A1A1A"/>
                </a:solidFill>
                <a:latin typeface="Arial"/>
              </a:rPr>
              <a:t>Transportation &amp; Logistics</a:t>
            </a:r>
          </a:p>
          <a:p>
            <a:pPr algn="l" marL="274320" indent="-274320">
              <a:lnSpc>
                <a:spcPct val="125000"/>
              </a:lnSpc>
              <a:spcAft>
                <a:spcPts val="900"/>
              </a:spcAft>
              <a:buFont typeface="Arial"/>
              <a:buChar char="•"/>
            </a:pPr>
            <a:r>
              <a:rPr sz="1800" b="1" i="0">
                <a:solidFill>
                  <a:srgbClr val="1A1A1A"/>
                </a:solidFill>
                <a:latin typeface="Arial"/>
              </a:rPr>
              <a:t>PS Category- </a:t>
            </a:r>
            <a:r>
              <a:rPr sz="1800" b="0" i="0">
                <a:solidFill>
                  <a:srgbClr val="1A1A1A"/>
                </a:solidFill>
                <a:latin typeface="Arial"/>
              </a:rPr>
              <a:t>Software</a:t>
            </a:r>
          </a:p>
          <a:p>
            <a:pPr algn="l" marL="274320" indent="-274320">
              <a:lnSpc>
                <a:spcPct val="125000"/>
              </a:lnSpc>
              <a:spcAft>
                <a:spcPts val="900"/>
              </a:spcAft>
              <a:buFont typeface="Arial"/>
              <a:buChar char="•"/>
            </a:pPr>
            <a:r>
              <a:rPr sz="1800" b="1" i="0">
                <a:solidFill>
                  <a:srgbClr val="1A1A1A"/>
                </a:solidFill>
                <a:latin typeface="Arial"/>
              </a:rPr>
              <a:t>Team ID- </a:t>
            </a:r>
            <a:r>
              <a:rPr sz="1800" b="1" i="0">
                <a:solidFill>
                  <a:srgbClr val="9A4A00"/>
                </a:solidFill>
                <a:latin typeface="Arial"/>
              </a:rPr>
              <a:t>[enter Team ID from the SIH portal]</a:t>
            </a:r>
          </a:p>
          <a:p>
            <a:pPr algn="l" marL="274320" indent="-274320">
              <a:lnSpc>
                <a:spcPct val="125000"/>
              </a:lnSpc>
              <a:spcAft>
                <a:spcPts val="900"/>
              </a:spcAft>
              <a:buFont typeface="Arial"/>
              <a:buChar char="•"/>
            </a:pPr>
            <a:r>
              <a:rPr sz="1800" b="1" i="0">
                <a:solidFill>
                  <a:srgbClr val="1A1A1A"/>
                </a:solidFill>
                <a:latin typeface="Arial"/>
              </a:rPr>
              <a:t>Team Name (Registered on portal)- </a:t>
            </a:r>
            <a:r>
              <a:rPr sz="1800" b="0" i="0">
                <a:solidFill>
                  <a:srgbClr val="1A1A1A"/>
                </a:solidFill>
                <a:latin typeface="Arial"/>
              </a:rPr>
              <a:t>InnoByte</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691640" y="0"/>
            <a:ext cx="7955279" cy="1143000"/>
          </a:xfrm>
        </p:spPr>
        <p:txBody>
          <a:bodyPr/>
          <a:lstStyle/>
          <a:p>
            <a:pPr eaLnBrk="1" hangingPunct="1"/>
            <a:r>
              <a:rPr sz="2400" b="1">
                <a:latin typeface="Times New Roman"/>
              </a:rPr>
              <a:t>INTEGRATED MAINTENANCE BLOCK PLANNER</a:t>
            </a:r>
            <a:br/>
            <a:r>
              <a:rPr sz="1300" b="0" i="1">
                <a:latin typeface="Times New Roman"/>
              </a:rPr>
              <a:t>Coordinate maintenance into the fewest feasible blocks while protecting train operations</a:t>
            </a:r>
          </a:p>
        </p:txBody>
      </p:sp>
      <p:sp>
        <p:nvSpPr>
          <p:cNvPr id="15362" name="TextBox 8"/>
          <p:cNvSpPr txBox="1">
            <a:spLocks noChangeArrowheads="1"/>
          </p:cNvSpPr>
          <p:nvPr/>
        </p:nvSpPr>
        <p:spPr bwMode="auto">
          <a:xfrm>
            <a:off x="274320" y="1078992"/>
            <a:ext cx="11521440" cy="457200"/>
          </a:xfrm>
          <a:prstGeom prst="rect">
            <a:avLst/>
          </a:prstGeom>
          <a:noFill/>
          <a:ln w="9525">
            <a:noFill/>
            <a:miter lim="800000"/>
            <a:headEnd/>
            <a:tailEnd/>
          </a:ln>
        </p:spPr>
        <p:txBody>
          <a:bodyPr wrap="square">
            <a:spAutoFit/>
          </a:bodyPr>
          <a:lstStyle/>
          <a:p>
            <a:pPr marL="342900" indent="-342900">
              <a:buFont typeface="Wingdings" panose="05000000000000000000" pitchFamily="2" charset="2"/>
              <a:buChar char="v"/>
            </a:pPr>
            <a:r>
              <a:rPr lang="en-US" sz="2000" b="1" u="sng" dirty="0">
                <a:solidFill>
                  <a:schemeClr val="tx2"/>
                </a:solidFill>
                <a:latin typeface="Arial" pitchFamily="34" charset="0"/>
                <a:cs typeface="Arial" pitchFamily="34" charset="0"/>
              </a:rPr>
              <a:t>Proposed Solution (Describe your Idea/Solution/Prototype)</a:t>
            </a:r>
            <a:endParaRPr lang="en-US" sz="3200" u="sng" dirty="0">
              <a:solidFill>
                <a:schemeClr val="tx2"/>
              </a:solidFill>
              <a:latin typeface="Arial" pitchFamily="34" charset="0"/>
              <a:cs typeface="Arial" pitchFamily="34"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b="1" sz="1300"/>
              <a:t>InnoByte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3" name="Rectangle 15362"/>
          <p:cNvSpPr/>
          <p:nvPr/>
        </p:nvSpPr>
        <p:spPr>
          <a:xfrm>
            <a:off x="365760" y="2057400"/>
            <a:ext cx="3721608" cy="4206240"/>
          </a:xfrm>
          <a:prstGeom prst="rect">
            <a:avLst/>
          </a:prstGeom>
          <a:solidFill>
            <a:srgbClr val="F7F9FC"/>
          </a:solidFill>
          <a:ln w="9525">
            <a:solidFill>
              <a:srgbClr val="C9D6E6"/>
            </a:solidFill>
          </a:ln>
          <a:effectLst/>
        </p:spPr>
        <p:txBody>
          <a:bodyPr rtlCol="0" anchor="ctr"/>
          <a:lstStyle/>
          <a:p/>
        </p:txBody>
      </p:sp>
      <p:sp>
        <p:nvSpPr>
          <p:cNvPr id="15364" name="Rectangle 15363"/>
          <p:cNvSpPr/>
          <p:nvPr/>
        </p:nvSpPr>
        <p:spPr>
          <a:xfrm>
            <a:off x="365760" y="1600200"/>
            <a:ext cx="3721608" cy="457200"/>
          </a:xfrm>
          <a:prstGeom prst="rect">
            <a:avLst/>
          </a:prstGeom>
          <a:solidFill>
            <a:srgbClr val="1F3864"/>
          </a:solidFill>
          <a:ln w="9525">
            <a:solidFill>
              <a:srgbClr val="1F3864"/>
            </a:solidFill>
          </a:ln>
          <a:effectLst/>
        </p:spPr>
        <p:txBody>
          <a:bodyPr rtlCol="0" anchor="ctr" wrap="square" lIns="109728" rIns="109728" tIns="36576" bIns="36576"/>
          <a:lstStyle/>
          <a:p>
            <a:pPr algn="l"/>
            <a:r>
              <a:rPr sz="1250" b="1" i="0">
                <a:solidFill>
                  <a:srgbClr val="FFFFFF"/>
                </a:solidFill>
                <a:latin typeface="Arial"/>
              </a:rPr>
              <a:t>Detailed explanation of the proposed solution</a:t>
            </a:r>
          </a:p>
        </p:txBody>
      </p:sp>
      <p:sp>
        <p:nvSpPr>
          <p:cNvPr id="15365" name="Rectangle 15364"/>
          <p:cNvSpPr/>
          <p:nvPr/>
        </p:nvSpPr>
        <p:spPr>
          <a:xfrm>
            <a:off x="4233672" y="2057400"/>
            <a:ext cx="3721608" cy="4206240"/>
          </a:xfrm>
          <a:prstGeom prst="rect">
            <a:avLst/>
          </a:prstGeom>
          <a:solidFill>
            <a:srgbClr val="F7F9FC"/>
          </a:solidFill>
          <a:ln w="9525">
            <a:solidFill>
              <a:srgbClr val="C9D6E6"/>
            </a:solidFill>
          </a:ln>
          <a:effectLst/>
        </p:spPr>
        <p:txBody>
          <a:bodyPr rtlCol="0" anchor="ctr"/>
          <a:lstStyle/>
          <a:p/>
        </p:txBody>
      </p:sp>
      <p:sp>
        <p:nvSpPr>
          <p:cNvPr id="15366" name="Rectangle 15365"/>
          <p:cNvSpPr/>
          <p:nvPr/>
        </p:nvSpPr>
        <p:spPr>
          <a:xfrm>
            <a:off x="4233672" y="1600200"/>
            <a:ext cx="3721608" cy="457200"/>
          </a:xfrm>
          <a:prstGeom prst="rect">
            <a:avLst/>
          </a:prstGeom>
          <a:solidFill>
            <a:srgbClr val="1F3864"/>
          </a:solidFill>
          <a:ln w="9525">
            <a:solidFill>
              <a:srgbClr val="1F3864"/>
            </a:solidFill>
          </a:ln>
          <a:effectLst/>
        </p:spPr>
        <p:txBody>
          <a:bodyPr rtlCol="0" anchor="ctr" wrap="square" lIns="109728" rIns="109728" tIns="36576" bIns="36576"/>
          <a:lstStyle/>
          <a:p>
            <a:pPr algn="l"/>
            <a:r>
              <a:rPr sz="1250" b="1" i="0">
                <a:solidFill>
                  <a:srgbClr val="FFFFFF"/>
                </a:solidFill>
                <a:latin typeface="Arial"/>
              </a:rPr>
              <a:t>How it addresses the problem</a:t>
            </a:r>
          </a:p>
        </p:txBody>
      </p:sp>
      <p:sp>
        <p:nvSpPr>
          <p:cNvPr id="15367" name="Rectangle 15366"/>
          <p:cNvSpPr/>
          <p:nvPr/>
        </p:nvSpPr>
        <p:spPr>
          <a:xfrm>
            <a:off x="8101583" y="2057400"/>
            <a:ext cx="3721608" cy="4206240"/>
          </a:xfrm>
          <a:prstGeom prst="rect">
            <a:avLst/>
          </a:prstGeom>
          <a:solidFill>
            <a:srgbClr val="F7F9FC"/>
          </a:solidFill>
          <a:ln w="9525">
            <a:solidFill>
              <a:srgbClr val="C9D6E6"/>
            </a:solidFill>
          </a:ln>
          <a:effectLst/>
        </p:spPr>
        <p:txBody>
          <a:bodyPr rtlCol="0" anchor="ctr"/>
          <a:lstStyle/>
          <a:p/>
        </p:txBody>
      </p:sp>
      <p:sp>
        <p:nvSpPr>
          <p:cNvPr id="15368" name="Rectangle 15367"/>
          <p:cNvSpPr/>
          <p:nvPr/>
        </p:nvSpPr>
        <p:spPr>
          <a:xfrm>
            <a:off x="8101583" y="1600200"/>
            <a:ext cx="3721608" cy="457200"/>
          </a:xfrm>
          <a:prstGeom prst="rect">
            <a:avLst/>
          </a:prstGeom>
          <a:solidFill>
            <a:srgbClr val="1F3864"/>
          </a:solidFill>
          <a:ln w="9525">
            <a:solidFill>
              <a:srgbClr val="1F3864"/>
            </a:solidFill>
          </a:ln>
          <a:effectLst/>
        </p:spPr>
        <p:txBody>
          <a:bodyPr rtlCol="0" anchor="ctr" wrap="square" lIns="109728" rIns="109728" tIns="36576" bIns="36576"/>
          <a:lstStyle/>
          <a:p>
            <a:pPr algn="l"/>
            <a:r>
              <a:rPr sz="1250" b="1" i="0">
                <a:solidFill>
                  <a:srgbClr val="FFFFFF"/>
                </a:solidFill>
                <a:latin typeface="Arial"/>
              </a:rPr>
              <a:t>Innovation and uniqueness of the solution</a:t>
            </a:r>
          </a:p>
        </p:txBody>
      </p:sp>
      <p:sp>
        <p:nvSpPr>
          <p:cNvPr id="15369" name="TextBox 15368"/>
          <p:cNvSpPr txBox="1"/>
          <p:nvPr/>
        </p:nvSpPr>
        <p:spPr>
          <a:xfrm>
            <a:off x="384048" y="2103120"/>
            <a:ext cx="3685032" cy="2606040"/>
          </a:xfrm>
          <a:prstGeom prst="rect">
            <a:avLst/>
          </a:prstGeom>
          <a:noFill/>
        </p:spPr>
        <p:txBody>
          <a:bodyPr wrap="square" lIns="73152" rIns="73152" anchor="t"/>
          <a:lstStyle/>
          <a:p>
            <a:pPr algn="l" marL="0" indent="0">
              <a:spcAft>
                <a:spcPts val="400"/>
              </a:spcAft>
              <a:buNone/>
            </a:pPr>
            <a:r>
              <a:rPr sz="1100" b="1" i="0">
                <a:solidFill>
                  <a:srgbClr val="1F3864"/>
                </a:solidFill>
                <a:latin typeface="Arial"/>
              </a:rPr>
              <a:t>1  Ingest </a:t>
            </a:r>
            <a:r>
              <a:rPr sz="1100" b="0" i="0">
                <a:solidFill>
                  <a:srgbClr val="595959"/>
                </a:solidFill>
                <a:latin typeface="Arial"/>
              </a:rPr>
              <a:t>(PS item 1). </a:t>
            </a:r>
            <a:r>
              <a:rPr sz="1100" b="0" i="0">
                <a:solidFill>
                  <a:srgbClr val="1A1A1A"/>
                </a:solidFill>
                <a:latin typeface="Arial"/>
              </a:rPr>
              <a:t>Defects from TMS, SMMS, TDMS; COA timetable, </a:t>
            </a:r>
            <a:r>
              <a:rPr sz="1100" b="1" i="0">
                <a:solidFill>
                  <a:srgbClr val="1A1A1A"/>
                </a:solidFill>
                <a:latin typeface="Arial"/>
              </a:rPr>
              <a:t>goods-train forecast</a:t>
            </a:r>
            <a:r>
              <a:rPr sz="1100" b="0" i="0">
                <a:solidFill>
                  <a:srgbClr val="1A1A1A"/>
                </a:solidFill>
                <a:latin typeface="Arial"/>
              </a:rPr>
              <a:t> and block corridors; one location model.</a:t>
            </a:r>
          </a:p>
          <a:p>
            <a:pPr algn="l" marL="0" indent="0">
              <a:spcAft>
                <a:spcPts val="400"/>
              </a:spcAft>
              <a:buNone/>
            </a:pPr>
            <a:r>
              <a:rPr sz="1100" b="1" i="0">
                <a:solidFill>
                  <a:srgbClr val="1F3864"/>
                </a:solidFill>
                <a:latin typeface="Arial"/>
              </a:rPr>
              <a:t>2  Prioritise </a:t>
            </a:r>
            <a:r>
              <a:rPr sz="1100" b="0" i="0">
                <a:solidFill>
                  <a:srgbClr val="595959"/>
                </a:solidFill>
                <a:latin typeface="Arial"/>
              </a:rPr>
              <a:t>(PS item 2). </a:t>
            </a:r>
            <a:r>
              <a:rPr sz="1100" b="1" i="0">
                <a:solidFill>
                  <a:srgbClr val="1A1A1A"/>
                </a:solidFill>
                <a:latin typeface="Arial"/>
              </a:rPr>
              <a:t>Safety rules</a:t>
            </a:r>
            <a:r>
              <a:rPr sz="1100" b="0" i="0">
                <a:solidFill>
                  <a:srgbClr val="1A1A1A"/>
                </a:solidFill>
                <a:latin typeface="Arial"/>
              </a:rPr>
              <a:t> set urgency tiers; an </a:t>
            </a:r>
            <a:r>
              <a:rPr sz="1100" b="1" i="0">
                <a:solidFill>
                  <a:srgbClr val="1A1A1A"/>
                </a:solidFill>
                <a:latin typeface="Arial"/>
              </a:rPr>
              <a:t>ML model</a:t>
            </a:r>
            <a:r>
              <a:rPr sz="1100" b="0" i="0">
                <a:solidFill>
                  <a:srgbClr val="1A1A1A"/>
                </a:solidFill>
                <a:latin typeface="Arial"/>
              </a:rPr>
              <a:t> ranks within a tier.</a:t>
            </a:r>
          </a:p>
          <a:p>
            <a:pPr algn="l" marL="0" indent="0">
              <a:spcAft>
                <a:spcPts val="400"/>
              </a:spcAft>
              <a:buNone/>
            </a:pPr>
            <a:r>
              <a:rPr sz="1100" b="1" i="0">
                <a:solidFill>
                  <a:srgbClr val="1F3864"/>
                </a:solidFill>
                <a:latin typeface="Arial"/>
              </a:rPr>
              <a:t>3  Compose </a:t>
            </a:r>
            <a:r>
              <a:rPr sz="1100" b="0" i="0">
                <a:solidFill>
                  <a:srgbClr val="595959"/>
                </a:solidFill>
                <a:latin typeface="Arial"/>
              </a:rPr>
              <a:t>(PS item 3). </a:t>
            </a:r>
            <a:r>
              <a:rPr sz="1100" b="0" i="0">
                <a:solidFill>
                  <a:srgbClr val="1A1A1A"/>
                </a:solidFill>
                <a:latin typeface="Arial"/>
              </a:rPr>
              <a:t>Jobs from all three departments merge into one </a:t>
            </a:r>
            <a:r>
              <a:rPr sz="1100" b="1" i="0">
                <a:solidFill>
                  <a:srgbClr val="1A1A1A"/>
                </a:solidFill>
                <a:latin typeface="Arial"/>
              </a:rPr>
              <a:t>Integrated Maintenance Block</a:t>
            </a:r>
            <a:r>
              <a:rPr sz="1100" b="0" i="0">
                <a:solidFill>
                  <a:srgbClr val="1A1A1A"/>
                </a:solidFill>
                <a:latin typeface="Arial"/>
              </a:rPr>
              <a:t> when constraints permit.</a:t>
            </a:r>
          </a:p>
          <a:p>
            <a:pPr algn="l" marL="0" indent="0">
              <a:spcAft>
                <a:spcPts val="400"/>
              </a:spcAft>
              <a:buNone/>
            </a:pPr>
            <a:r>
              <a:rPr sz="1100" b="1" i="0">
                <a:solidFill>
                  <a:srgbClr val="1F3864"/>
                </a:solidFill>
                <a:latin typeface="Arial"/>
              </a:rPr>
              <a:t>4  Plan </a:t>
            </a:r>
            <a:r>
              <a:rPr sz="1100" b="0" i="0">
                <a:solidFill>
                  <a:srgbClr val="595959"/>
                </a:solidFill>
                <a:latin typeface="Arial"/>
              </a:rPr>
              <a:t>(PS items 3, 4). </a:t>
            </a:r>
            <a:r>
              <a:rPr sz="1100" b="1" i="0">
                <a:solidFill>
                  <a:srgbClr val="1A1A1A"/>
                </a:solidFill>
                <a:latin typeface="Arial"/>
              </a:rPr>
              <a:t>CP-SAT</a:t>
            </a:r>
            <a:r>
              <a:rPr sz="1100" b="0" i="0">
                <a:solidFill>
                  <a:srgbClr val="1A1A1A"/>
                </a:solidFill>
                <a:latin typeface="Arial"/>
              </a:rPr>
              <a:t> places blocks in corridors and protects premium trains (classes configurable). </a:t>
            </a:r>
            <a:r>
              <a:rPr sz="1100" b="1" i="0">
                <a:solidFill>
                  <a:srgbClr val="1A1A1A"/>
                </a:solidFill>
                <a:latin typeface="Arial"/>
              </a:rPr>
              <a:t>Weekly and monthly</a:t>
            </a:r>
            <a:r>
              <a:rPr sz="1100" b="0" i="0">
                <a:solidFill>
                  <a:srgbClr val="1A1A1A"/>
                </a:solidFill>
                <a:latin typeface="Arial"/>
              </a:rPr>
              <a:t> rolling plans (MoR 2025).</a:t>
            </a:r>
          </a:p>
          <a:p>
            <a:pPr algn="l" marL="0" indent="0">
              <a:spcAft>
                <a:spcPts val="0"/>
              </a:spcAft>
              <a:buNone/>
            </a:pPr>
            <a:r>
              <a:rPr sz="1100" b="1" i="0">
                <a:solidFill>
                  <a:srgbClr val="1F3864"/>
                </a:solidFill>
                <a:latin typeface="Arial"/>
              </a:rPr>
              <a:t>5  Decide. </a:t>
            </a:r>
            <a:r>
              <a:rPr sz="1100" b="0" i="0">
                <a:solidFill>
                  <a:srgbClr val="1A1A1A"/>
                </a:solidFill>
                <a:latin typeface="Arial"/>
              </a:rPr>
              <a:t>Safety and timetable checks run; a </a:t>
            </a:r>
            <a:r>
              <a:rPr sz="1100" b="1" i="0">
                <a:solidFill>
                  <a:srgbClr val="1A1A1A"/>
                </a:solidFill>
                <a:latin typeface="Arial"/>
              </a:rPr>
              <a:t>human planner approves</a:t>
            </a:r>
            <a:r>
              <a:rPr sz="1100" b="0" i="0">
                <a:solidFill>
                  <a:srgbClr val="1A1A1A"/>
                </a:solidFill>
                <a:latin typeface="Arial"/>
              </a:rPr>
              <a:t>. Advisory only.</a:t>
            </a:r>
          </a:p>
        </p:txBody>
      </p:sp>
      <p:sp>
        <p:nvSpPr>
          <p:cNvPr id="15370" name="Rectangle 15369"/>
          <p:cNvSpPr/>
          <p:nvPr/>
        </p:nvSpPr>
        <p:spPr>
          <a:xfrm>
            <a:off x="475488" y="4782312"/>
            <a:ext cx="1677924" cy="841248"/>
          </a:xfrm>
          <a:prstGeom prst="rect">
            <a:avLst/>
          </a:prstGeom>
          <a:solidFill>
            <a:srgbClr val="FFFFFF"/>
          </a:solidFill>
          <a:ln w="9525">
            <a:solidFill>
              <a:srgbClr val="C9D6E6"/>
            </a:solidFill>
          </a:ln>
          <a:effectLst/>
        </p:spPr>
        <p:txBody>
          <a:bodyPr rtlCol="0" anchor="ctr"/>
          <a:lstStyle/>
          <a:p/>
        </p:txBody>
      </p:sp>
      <p:sp>
        <p:nvSpPr>
          <p:cNvPr id="15371" name="TextBox 15370"/>
          <p:cNvSpPr txBox="1"/>
          <p:nvPr/>
        </p:nvSpPr>
        <p:spPr>
          <a:xfrm>
            <a:off x="475488" y="4782312"/>
            <a:ext cx="1677924" cy="237744"/>
          </a:xfrm>
          <a:prstGeom prst="rect">
            <a:avLst/>
          </a:prstGeom>
          <a:noFill/>
        </p:spPr>
        <p:txBody>
          <a:bodyPr wrap="square" lIns="54864" tIns="27432" rIns="18288" bIns="0" anchor="t"/>
          <a:lstStyle/>
          <a:p>
            <a:pPr algn="l" marL="0" indent="0">
              <a:buNone/>
            </a:pPr>
            <a:r>
              <a:rPr sz="1000" b="1" i="0">
                <a:solidFill>
                  <a:srgbClr val="1F3864"/>
                </a:solidFill>
                <a:latin typeface="Arial"/>
              </a:rPr>
              <a:t>Today: 3 blocks</a:t>
            </a:r>
          </a:p>
        </p:txBody>
      </p:sp>
      <p:sp>
        <p:nvSpPr>
          <p:cNvPr id="15372" name="Rectangle 15371"/>
          <p:cNvSpPr/>
          <p:nvPr/>
        </p:nvSpPr>
        <p:spPr>
          <a:xfrm>
            <a:off x="2299716" y="4782312"/>
            <a:ext cx="1677924" cy="841248"/>
          </a:xfrm>
          <a:prstGeom prst="rect">
            <a:avLst/>
          </a:prstGeom>
          <a:solidFill>
            <a:srgbClr val="FFFFFF"/>
          </a:solidFill>
          <a:ln w="9525">
            <a:solidFill>
              <a:srgbClr val="C9D6E6"/>
            </a:solidFill>
          </a:ln>
          <a:effectLst/>
        </p:spPr>
        <p:txBody>
          <a:bodyPr rtlCol="0" anchor="ctr"/>
          <a:lstStyle/>
          <a:p/>
        </p:txBody>
      </p:sp>
      <p:sp>
        <p:nvSpPr>
          <p:cNvPr id="15373" name="TextBox 15372"/>
          <p:cNvSpPr txBox="1"/>
          <p:nvPr/>
        </p:nvSpPr>
        <p:spPr>
          <a:xfrm>
            <a:off x="2299716" y="4782312"/>
            <a:ext cx="1677924" cy="237744"/>
          </a:xfrm>
          <a:prstGeom prst="rect">
            <a:avLst/>
          </a:prstGeom>
          <a:noFill/>
        </p:spPr>
        <p:txBody>
          <a:bodyPr wrap="square" lIns="54864" tIns="27432" rIns="18288" bIns="0" anchor="t"/>
          <a:lstStyle/>
          <a:p>
            <a:pPr algn="l" marL="0" indent="0">
              <a:buNone/>
            </a:pPr>
            <a:r>
              <a:rPr sz="1000" b="1" i="0">
                <a:solidFill>
                  <a:srgbClr val="1F3864"/>
                </a:solidFill>
                <a:latin typeface="Arial"/>
              </a:rPr>
              <a:t>Ours: 1 block</a:t>
            </a:r>
          </a:p>
        </p:txBody>
      </p:sp>
      <p:sp>
        <p:nvSpPr>
          <p:cNvPr id="15374" name="Rectangle 15373"/>
          <p:cNvSpPr/>
          <p:nvPr/>
        </p:nvSpPr>
        <p:spPr>
          <a:xfrm>
            <a:off x="539496" y="5056632"/>
            <a:ext cx="292268" cy="137160"/>
          </a:xfrm>
          <a:prstGeom prst="rect">
            <a:avLst/>
          </a:prstGeom>
          <a:solidFill>
            <a:srgbClr val="7F77DD"/>
          </a:solidFill>
          <a:ln>
            <a:noFill/>
          </a:ln>
          <a:effectLst/>
        </p:spPr>
        <p:txBody>
          <a:bodyPr rtlCol="0" anchor="ctr"/>
          <a:lstStyle/>
          <a:p/>
        </p:txBody>
      </p:sp>
      <p:sp>
        <p:nvSpPr>
          <p:cNvPr id="15375" name="Rectangle 15374"/>
          <p:cNvSpPr/>
          <p:nvPr/>
        </p:nvSpPr>
        <p:spPr>
          <a:xfrm>
            <a:off x="938043" y="5257800"/>
            <a:ext cx="584536" cy="137160"/>
          </a:xfrm>
          <a:prstGeom prst="rect">
            <a:avLst/>
          </a:prstGeom>
          <a:solidFill>
            <a:srgbClr val="1D9E75"/>
          </a:solidFill>
          <a:ln>
            <a:noFill/>
          </a:ln>
          <a:effectLst/>
        </p:spPr>
        <p:txBody>
          <a:bodyPr rtlCol="0" anchor="ctr"/>
          <a:lstStyle/>
          <a:p/>
        </p:txBody>
      </p:sp>
      <p:sp>
        <p:nvSpPr>
          <p:cNvPr id="15376" name="Rectangle 15375"/>
          <p:cNvSpPr/>
          <p:nvPr/>
        </p:nvSpPr>
        <p:spPr>
          <a:xfrm>
            <a:off x="1628859" y="5458968"/>
            <a:ext cx="438402" cy="137160"/>
          </a:xfrm>
          <a:prstGeom prst="rect">
            <a:avLst/>
          </a:prstGeom>
          <a:solidFill>
            <a:srgbClr val="EF9F27"/>
          </a:solidFill>
          <a:ln>
            <a:noFill/>
          </a:ln>
          <a:effectLst/>
        </p:spPr>
        <p:txBody>
          <a:bodyPr rtlCol="0" anchor="ctr"/>
          <a:lstStyle/>
          <a:p/>
        </p:txBody>
      </p:sp>
      <p:sp>
        <p:nvSpPr>
          <p:cNvPr id="15377" name="Rectangle 15376"/>
          <p:cNvSpPr/>
          <p:nvPr/>
        </p:nvSpPr>
        <p:spPr>
          <a:xfrm>
            <a:off x="2363724" y="5056632"/>
            <a:ext cx="146134" cy="137160"/>
          </a:xfrm>
          <a:prstGeom prst="rect">
            <a:avLst/>
          </a:prstGeom>
          <a:solidFill>
            <a:srgbClr val="7F77DD"/>
          </a:solidFill>
          <a:ln>
            <a:noFill/>
          </a:ln>
          <a:effectLst/>
        </p:spPr>
        <p:txBody>
          <a:bodyPr rtlCol="0" anchor="ctr"/>
          <a:lstStyle/>
          <a:p/>
        </p:txBody>
      </p:sp>
      <p:sp>
        <p:nvSpPr>
          <p:cNvPr id="15378" name="Rectangle 15377"/>
          <p:cNvSpPr/>
          <p:nvPr/>
        </p:nvSpPr>
        <p:spPr>
          <a:xfrm>
            <a:off x="3094394" y="5056632"/>
            <a:ext cx="146134" cy="137160"/>
          </a:xfrm>
          <a:prstGeom prst="rect">
            <a:avLst/>
          </a:prstGeom>
          <a:solidFill>
            <a:srgbClr val="7F77DD"/>
          </a:solidFill>
          <a:ln>
            <a:noFill/>
          </a:ln>
          <a:effectLst/>
        </p:spPr>
        <p:txBody>
          <a:bodyPr rtlCol="0" anchor="ctr"/>
          <a:lstStyle/>
          <a:p/>
        </p:txBody>
      </p:sp>
      <p:sp>
        <p:nvSpPr>
          <p:cNvPr id="15379" name="Rectangle 15378"/>
          <p:cNvSpPr/>
          <p:nvPr/>
        </p:nvSpPr>
        <p:spPr>
          <a:xfrm>
            <a:off x="2509858" y="5257800"/>
            <a:ext cx="584536" cy="137160"/>
          </a:xfrm>
          <a:prstGeom prst="rect">
            <a:avLst/>
          </a:prstGeom>
          <a:solidFill>
            <a:srgbClr val="1D9E75"/>
          </a:solidFill>
          <a:ln>
            <a:noFill/>
          </a:ln>
          <a:effectLst/>
        </p:spPr>
        <p:txBody>
          <a:bodyPr rtlCol="0" anchor="ctr"/>
          <a:lstStyle/>
          <a:p/>
        </p:txBody>
      </p:sp>
      <p:sp>
        <p:nvSpPr>
          <p:cNvPr id="15380" name="Rectangle 15379"/>
          <p:cNvSpPr/>
          <p:nvPr/>
        </p:nvSpPr>
        <p:spPr>
          <a:xfrm>
            <a:off x="2509858" y="5458968"/>
            <a:ext cx="438402" cy="137160"/>
          </a:xfrm>
          <a:prstGeom prst="rect">
            <a:avLst/>
          </a:prstGeom>
          <a:solidFill>
            <a:srgbClr val="EF9F27"/>
          </a:solidFill>
          <a:ln>
            <a:noFill/>
          </a:ln>
          <a:effectLst/>
        </p:spPr>
        <p:txBody>
          <a:bodyPr rtlCol="0" anchor="ctr"/>
          <a:lstStyle/>
          <a:p/>
        </p:txBody>
      </p:sp>
      <p:sp>
        <p:nvSpPr>
          <p:cNvPr id="15381" name="Rectangle 15380"/>
          <p:cNvSpPr/>
          <p:nvPr/>
        </p:nvSpPr>
        <p:spPr>
          <a:xfrm>
            <a:off x="475488" y="5705856"/>
            <a:ext cx="109728" cy="109728"/>
          </a:xfrm>
          <a:prstGeom prst="rect">
            <a:avLst/>
          </a:prstGeom>
          <a:solidFill>
            <a:srgbClr val="7F77DD"/>
          </a:solidFill>
          <a:ln>
            <a:noFill/>
          </a:ln>
          <a:effectLst/>
        </p:spPr>
        <p:txBody>
          <a:bodyPr rtlCol="0" anchor="ctr"/>
          <a:lstStyle/>
          <a:p/>
        </p:txBody>
      </p:sp>
      <p:sp>
        <p:nvSpPr>
          <p:cNvPr id="15382" name="TextBox 15381"/>
          <p:cNvSpPr txBox="1"/>
          <p:nvPr/>
        </p:nvSpPr>
        <p:spPr>
          <a:xfrm>
            <a:off x="603504" y="5660136"/>
            <a:ext cx="365760" cy="201168"/>
          </a:xfrm>
          <a:prstGeom prst="rect">
            <a:avLst/>
          </a:prstGeom>
          <a:noFill/>
        </p:spPr>
        <p:txBody>
          <a:bodyPr wrap="square" lIns="18288" tIns="0" rIns="0" bIns="0" anchor="t"/>
          <a:lstStyle/>
          <a:p>
            <a:pPr algn="l" marL="0" indent="0">
              <a:buNone/>
            </a:pPr>
            <a:r>
              <a:rPr sz="950" b="0" i="0">
                <a:solidFill>
                  <a:srgbClr val="1A1A1A"/>
                </a:solidFill>
                <a:latin typeface="Arial"/>
              </a:rPr>
              <a:t>S&amp;T</a:t>
            </a:r>
          </a:p>
        </p:txBody>
      </p:sp>
      <p:sp>
        <p:nvSpPr>
          <p:cNvPr id="15383" name="Rectangle 15382"/>
          <p:cNvSpPr/>
          <p:nvPr/>
        </p:nvSpPr>
        <p:spPr>
          <a:xfrm>
            <a:off x="932688" y="5705856"/>
            <a:ext cx="109728" cy="109728"/>
          </a:xfrm>
          <a:prstGeom prst="rect">
            <a:avLst/>
          </a:prstGeom>
          <a:solidFill>
            <a:srgbClr val="1D9E75"/>
          </a:solidFill>
          <a:ln>
            <a:noFill/>
          </a:ln>
          <a:effectLst/>
        </p:spPr>
        <p:txBody>
          <a:bodyPr rtlCol="0" anchor="ctr"/>
          <a:lstStyle/>
          <a:p/>
        </p:txBody>
      </p:sp>
      <p:sp>
        <p:nvSpPr>
          <p:cNvPr id="15384" name="TextBox 15383"/>
          <p:cNvSpPr txBox="1"/>
          <p:nvPr/>
        </p:nvSpPr>
        <p:spPr>
          <a:xfrm>
            <a:off x="1060704" y="5660136"/>
            <a:ext cx="731520" cy="201168"/>
          </a:xfrm>
          <a:prstGeom prst="rect">
            <a:avLst/>
          </a:prstGeom>
          <a:noFill/>
        </p:spPr>
        <p:txBody>
          <a:bodyPr wrap="square" lIns="18288" tIns="0" rIns="0" bIns="0" anchor="t"/>
          <a:lstStyle/>
          <a:p>
            <a:pPr algn="l" marL="0" indent="0">
              <a:buNone/>
            </a:pPr>
            <a:r>
              <a:rPr sz="950" b="0" i="0">
                <a:solidFill>
                  <a:srgbClr val="1A1A1A"/>
                </a:solidFill>
                <a:latin typeface="Arial"/>
              </a:rPr>
              <a:t>Engineering</a:t>
            </a:r>
          </a:p>
        </p:txBody>
      </p:sp>
      <p:sp>
        <p:nvSpPr>
          <p:cNvPr id="15385" name="Rectangle 15384"/>
          <p:cNvSpPr/>
          <p:nvPr/>
        </p:nvSpPr>
        <p:spPr>
          <a:xfrm>
            <a:off x="1755648" y="5705856"/>
            <a:ext cx="109728" cy="109728"/>
          </a:xfrm>
          <a:prstGeom prst="rect">
            <a:avLst/>
          </a:prstGeom>
          <a:solidFill>
            <a:srgbClr val="EF9F27"/>
          </a:solidFill>
          <a:ln>
            <a:noFill/>
          </a:ln>
          <a:effectLst/>
        </p:spPr>
        <p:txBody>
          <a:bodyPr rtlCol="0" anchor="ctr"/>
          <a:lstStyle/>
          <a:p/>
        </p:txBody>
      </p:sp>
      <p:sp>
        <p:nvSpPr>
          <p:cNvPr id="15386" name="TextBox 15385"/>
          <p:cNvSpPr txBox="1"/>
          <p:nvPr/>
        </p:nvSpPr>
        <p:spPr>
          <a:xfrm>
            <a:off x="1883664" y="5660136"/>
            <a:ext cx="548640" cy="201168"/>
          </a:xfrm>
          <a:prstGeom prst="rect">
            <a:avLst/>
          </a:prstGeom>
          <a:noFill/>
        </p:spPr>
        <p:txBody>
          <a:bodyPr wrap="square" lIns="18288" tIns="0" rIns="0" bIns="0" anchor="t"/>
          <a:lstStyle/>
          <a:p>
            <a:pPr algn="l" marL="0" indent="0">
              <a:buNone/>
            </a:pPr>
            <a:r>
              <a:rPr sz="950" b="0" i="0">
                <a:solidFill>
                  <a:srgbClr val="1A1A1A"/>
                </a:solidFill>
                <a:latin typeface="Arial"/>
              </a:rPr>
              <a:t>Traction</a:t>
            </a:r>
          </a:p>
        </p:txBody>
      </p:sp>
      <p:sp>
        <p:nvSpPr>
          <p:cNvPr id="15387" name="Rounded Rectangle 15386"/>
          <p:cNvSpPr/>
          <p:nvPr/>
        </p:nvSpPr>
        <p:spPr>
          <a:xfrm>
            <a:off x="457200" y="5861304"/>
            <a:ext cx="786384" cy="182880"/>
          </a:xfrm>
          <a:prstGeom prst="roundRect">
            <a:avLst>
              <a:gd name="adj" fmla="val 30000"/>
            </a:avLst>
          </a:prstGeom>
          <a:solidFill>
            <a:srgbClr val="FFF3E0"/>
          </a:solidFill>
          <a:ln w="9525">
            <a:solidFill>
              <a:srgbClr val="9A4A00"/>
            </a:solidFill>
          </a:ln>
          <a:effectLst/>
        </p:spPr>
        <p:txBody>
          <a:bodyPr rtlCol="0" anchor="ctr" wrap="square" lIns="27432" rIns="27432" tIns="27432" bIns="27432"/>
          <a:lstStyle/>
          <a:p>
            <a:pPr algn="ctr">
              <a:spcAft>
                <a:spcPts val="0"/>
              </a:spcAft>
            </a:pPr>
            <a:r>
              <a:rPr sz="750" b="1" i="0">
                <a:solidFill>
                  <a:srgbClr val="9A4A00"/>
                </a:solidFill>
                <a:latin typeface="Arial"/>
              </a:rPr>
              <a:t>ILLUSTRATIVE</a:t>
            </a:r>
          </a:p>
        </p:txBody>
      </p:sp>
      <p:sp>
        <p:nvSpPr>
          <p:cNvPr id="15388" name="TextBox 15387"/>
          <p:cNvSpPr txBox="1"/>
          <p:nvPr/>
        </p:nvSpPr>
        <p:spPr>
          <a:xfrm>
            <a:off x="1280160" y="5843016"/>
            <a:ext cx="2679192" cy="310896"/>
          </a:xfrm>
          <a:prstGeom prst="rect">
            <a:avLst/>
          </a:prstGeom>
          <a:noFill/>
        </p:spPr>
        <p:txBody>
          <a:bodyPr wrap="square" lIns="36576" tIns="0" rIns="0" bIns="0" anchor="t"/>
          <a:lstStyle/>
          <a:p>
            <a:pPr algn="l" marL="0" indent="0">
              <a:buNone/>
            </a:pPr>
            <a:r>
              <a:rPr sz="850" b="0" i="1">
                <a:solidFill>
                  <a:srgbClr val="595959"/>
                </a:solidFill>
                <a:latin typeface="Arial"/>
              </a:rPr>
              <a:t>Illustrative scenario, not a measured prototype result: 3 departmental blocks become 1 coordinated block when constraints permit.</a:t>
            </a:r>
          </a:p>
        </p:txBody>
      </p:sp>
      <p:sp>
        <p:nvSpPr>
          <p:cNvPr id="15389" name="Rounded Rectangle 15388"/>
          <p:cNvSpPr/>
          <p:nvPr/>
        </p:nvSpPr>
        <p:spPr>
          <a:xfrm>
            <a:off x="4279392" y="2130552"/>
            <a:ext cx="621792" cy="164592"/>
          </a:xfrm>
          <a:prstGeom prst="roundRect">
            <a:avLst>
              <a:gd name="adj" fmla="val 30000"/>
            </a:avLst>
          </a:prstGeom>
          <a:solidFill>
            <a:srgbClr val="0070C0"/>
          </a:solidFill>
          <a:ln>
            <a:solidFill>
              <a:srgbClr val="0070C0"/>
            </a:solidFill>
          </a:ln>
          <a:effectLst/>
        </p:spPr>
        <p:txBody>
          <a:bodyPr rtlCol="0" anchor="ctr" wrap="square" lIns="18288" rIns="18288" tIns="27432" bIns="27432"/>
          <a:lstStyle/>
          <a:p>
            <a:pPr algn="ctr">
              <a:spcAft>
                <a:spcPts val="0"/>
              </a:spcAft>
            </a:pPr>
            <a:r>
              <a:rPr sz="700" b="1" i="0">
                <a:solidFill>
                  <a:srgbClr val="FFFFFF"/>
                </a:solidFill>
                <a:latin typeface="Arial"/>
              </a:rPr>
              <a:t>EVIDENCE</a:t>
            </a:r>
          </a:p>
        </p:txBody>
      </p:sp>
      <p:sp>
        <p:nvSpPr>
          <p:cNvPr id="15390" name="TextBox 15389"/>
          <p:cNvSpPr txBox="1"/>
          <p:nvPr/>
        </p:nvSpPr>
        <p:spPr>
          <a:xfrm>
            <a:off x="4279392" y="2304288"/>
            <a:ext cx="3630168" cy="219456"/>
          </a:xfrm>
          <a:prstGeom prst="rect">
            <a:avLst/>
          </a:prstGeom>
          <a:noFill/>
        </p:spPr>
        <p:txBody>
          <a:bodyPr wrap="square" lIns="73152" rIns="73152" anchor="t"/>
          <a:lstStyle/>
          <a:p>
            <a:pPr algn="l" marL="0" indent="0">
              <a:buNone/>
            </a:pPr>
            <a:r>
              <a:rPr sz="1050" b="1" i="0">
                <a:solidFill>
                  <a:srgbClr val="1F3864"/>
                </a:solidFill>
                <a:latin typeface="Arial"/>
              </a:rPr>
              <a:t>Why track machines sat idle </a:t>
            </a:r>
            <a:r>
              <a:rPr sz="1050" b="0" i="0">
                <a:solidFill>
                  <a:srgbClr val="595959"/>
                </a:solidFill>
                <a:latin typeface="Arial"/>
              </a:rPr>
              <a:t>(% of idle days)</a:t>
            </a:r>
          </a:p>
        </p:txBody>
      </p:sp>
      <p:sp>
        <p:nvSpPr>
          <p:cNvPr id="15391" name="Rectangle 15390"/>
          <p:cNvSpPr/>
          <p:nvPr/>
        </p:nvSpPr>
        <p:spPr>
          <a:xfrm>
            <a:off x="4370832" y="2551176"/>
            <a:ext cx="1103132" cy="292608"/>
          </a:xfrm>
          <a:prstGeom prst="rect">
            <a:avLst/>
          </a:prstGeom>
          <a:solidFill>
            <a:srgbClr val="1F3864"/>
          </a:solidFill>
          <a:ln w="9525">
            <a:solidFill>
              <a:srgbClr val="FFFFFF"/>
            </a:solidFill>
          </a:ln>
          <a:effectLst/>
        </p:spPr>
        <p:txBody>
          <a:bodyPr rtlCol="0" anchor="ctr" wrap="square" lIns="9144" rIns="9144" tIns="27432" bIns="27432"/>
          <a:lstStyle/>
          <a:p>
            <a:pPr algn="ctr">
              <a:spcAft>
                <a:spcPts val="0"/>
              </a:spcAft>
            </a:pPr>
            <a:r>
              <a:rPr sz="1000" b="1" i="0">
                <a:solidFill>
                  <a:srgbClr val="FFFFFF"/>
                </a:solidFill>
                <a:latin typeface="Arial"/>
              </a:rPr>
              <a:t>32%</a:t>
            </a:r>
          </a:p>
        </p:txBody>
      </p:sp>
      <p:sp>
        <p:nvSpPr>
          <p:cNvPr id="15392" name="Rectangle 15391"/>
          <p:cNvSpPr/>
          <p:nvPr/>
        </p:nvSpPr>
        <p:spPr>
          <a:xfrm>
            <a:off x="5473964" y="2551176"/>
            <a:ext cx="1034186" cy="292608"/>
          </a:xfrm>
          <a:prstGeom prst="rect">
            <a:avLst/>
          </a:prstGeom>
          <a:solidFill>
            <a:srgbClr val="0070C0"/>
          </a:solidFill>
          <a:ln w="9525">
            <a:solidFill>
              <a:srgbClr val="FFFFFF"/>
            </a:solidFill>
          </a:ln>
          <a:effectLst/>
        </p:spPr>
        <p:txBody>
          <a:bodyPr rtlCol="0" anchor="ctr" wrap="square" lIns="9144" rIns="9144" tIns="27432" bIns="27432"/>
          <a:lstStyle/>
          <a:p>
            <a:pPr algn="ctr">
              <a:spcAft>
                <a:spcPts val="0"/>
              </a:spcAft>
            </a:pPr>
            <a:r>
              <a:rPr sz="1000" b="1" i="0">
                <a:solidFill>
                  <a:srgbClr val="FFFFFF"/>
                </a:solidFill>
                <a:latin typeface="Arial"/>
              </a:rPr>
              <a:t>30%</a:t>
            </a:r>
          </a:p>
        </p:txBody>
      </p:sp>
      <p:sp>
        <p:nvSpPr>
          <p:cNvPr id="15393" name="Rectangle 15392"/>
          <p:cNvSpPr/>
          <p:nvPr/>
        </p:nvSpPr>
        <p:spPr>
          <a:xfrm>
            <a:off x="6508150" y="2551176"/>
            <a:ext cx="654984" cy="292608"/>
          </a:xfrm>
          <a:prstGeom prst="rect">
            <a:avLst/>
          </a:prstGeom>
          <a:solidFill>
            <a:srgbClr val="8FA8C8"/>
          </a:solidFill>
          <a:ln w="9525">
            <a:solidFill>
              <a:srgbClr val="FFFFFF"/>
            </a:solidFill>
          </a:ln>
          <a:effectLst/>
        </p:spPr>
        <p:txBody>
          <a:bodyPr rtlCol="0" anchor="ctr" wrap="square" lIns="9144" rIns="9144" tIns="27432" bIns="27432"/>
          <a:lstStyle/>
          <a:p>
            <a:pPr algn="ctr">
              <a:spcAft>
                <a:spcPts val="0"/>
              </a:spcAft>
            </a:pPr>
            <a:r>
              <a:rPr sz="1000" b="1" i="0">
                <a:solidFill>
                  <a:srgbClr val="1A1A1A"/>
                </a:solidFill>
                <a:latin typeface="Arial"/>
              </a:rPr>
              <a:t>19%</a:t>
            </a:r>
          </a:p>
        </p:txBody>
      </p:sp>
      <p:sp>
        <p:nvSpPr>
          <p:cNvPr id="15394" name="Rectangle 15393"/>
          <p:cNvSpPr/>
          <p:nvPr/>
        </p:nvSpPr>
        <p:spPr>
          <a:xfrm>
            <a:off x="7163135" y="2551176"/>
            <a:ext cx="379201" cy="292608"/>
          </a:xfrm>
          <a:prstGeom prst="rect">
            <a:avLst/>
          </a:prstGeom>
          <a:solidFill>
            <a:srgbClr val="D5DEEA"/>
          </a:solidFill>
          <a:ln w="9525">
            <a:solidFill>
              <a:srgbClr val="FFFFFF"/>
            </a:solidFill>
          </a:ln>
          <a:effectLst/>
        </p:spPr>
        <p:txBody>
          <a:bodyPr rtlCol="0" anchor="ctr" wrap="square" lIns="9144" rIns="9144" tIns="27432" bIns="27432"/>
          <a:lstStyle/>
          <a:p>
            <a:pPr algn="ctr">
              <a:spcAft>
                <a:spcPts val="0"/>
              </a:spcAft>
            </a:pPr>
            <a:r>
              <a:rPr sz="1000" b="1" i="0">
                <a:solidFill>
                  <a:srgbClr val="1A1A1A"/>
                </a:solidFill>
                <a:latin typeface="Arial"/>
              </a:rPr>
              <a:t>11%</a:t>
            </a:r>
          </a:p>
        </p:txBody>
      </p:sp>
      <p:sp>
        <p:nvSpPr>
          <p:cNvPr id="15395" name="Rectangle 15394"/>
          <p:cNvSpPr/>
          <p:nvPr/>
        </p:nvSpPr>
        <p:spPr>
          <a:xfrm>
            <a:off x="7542336" y="2551176"/>
            <a:ext cx="172364" cy="292608"/>
          </a:xfrm>
          <a:prstGeom prst="rect">
            <a:avLst/>
          </a:prstGeom>
          <a:solidFill>
            <a:srgbClr val="E6ECF4"/>
          </a:solidFill>
          <a:ln w="9525">
            <a:solidFill>
              <a:srgbClr val="FFFFFF"/>
            </a:solidFill>
          </a:ln>
          <a:effectLst/>
        </p:spPr>
        <p:txBody>
          <a:bodyPr rtlCol="0" anchor="ctr"/>
          <a:lstStyle/>
          <a:p/>
        </p:txBody>
      </p:sp>
      <p:sp>
        <p:nvSpPr>
          <p:cNvPr id="15396" name="Rectangle 15395"/>
          <p:cNvSpPr/>
          <p:nvPr/>
        </p:nvSpPr>
        <p:spPr>
          <a:xfrm>
            <a:off x="7714701" y="2551176"/>
            <a:ext cx="103418" cy="292608"/>
          </a:xfrm>
          <a:prstGeom prst="rect">
            <a:avLst/>
          </a:prstGeom>
          <a:solidFill>
            <a:srgbClr val="F0F3F8"/>
          </a:solidFill>
          <a:ln w="9525">
            <a:solidFill>
              <a:srgbClr val="FFFFFF"/>
            </a:solidFill>
          </a:ln>
          <a:effectLst/>
        </p:spPr>
        <p:txBody>
          <a:bodyPr rtlCol="0" anchor="ctr"/>
          <a:lstStyle/>
          <a:p/>
        </p:txBody>
      </p:sp>
      <p:sp>
        <p:nvSpPr>
          <p:cNvPr id="15397" name="TextBox 15396"/>
          <p:cNvSpPr txBox="1"/>
          <p:nvPr/>
        </p:nvSpPr>
        <p:spPr>
          <a:xfrm>
            <a:off x="4370832" y="2862072"/>
            <a:ext cx="1103132" cy="365760"/>
          </a:xfrm>
          <a:prstGeom prst="rect">
            <a:avLst/>
          </a:prstGeom>
          <a:noFill/>
        </p:spPr>
        <p:txBody>
          <a:bodyPr wrap="square" lIns="9144" tIns="9144" rIns="18288" bIns="0" anchor="t"/>
          <a:lstStyle/>
          <a:p>
            <a:pPr algn="l" marL="0" indent="0">
              <a:buNone/>
            </a:pPr>
            <a:r>
              <a:rPr sz="950" b="0" i="0">
                <a:solidFill>
                  <a:srgbClr val="1A1A1A"/>
                </a:solidFill>
                <a:latin typeface="Arial"/>
              </a:rPr>
              <a:t>Block not given by Operating</a:t>
            </a:r>
          </a:p>
        </p:txBody>
      </p:sp>
      <p:sp>
        <p:nvSpPr>
          <p:cNvPr id="15398" name="TextBox 15397"/>
          <p:cNvSpPr txBox="1"/>
          <p:nvPr/>
        </p:nvSpPr>
        <p:spPr>
          <a:xfrm>
            <a:off x="5473964" y="2862072"/>
            <a:ext cx="1034186" cy="365760"/>
          </a:xfrm>
          <a:prstGeom prst="rect">
            <a:avLst/>
          </a:prstGeom>
          <a:noFill/>
        </p:spPr>
        <p:txBody>
          <a:bodyPr wrap="square" lIns="18288" tIns="9144" rIns="18288" bIns="0" anchor="t"/>
          <a:lstStyle/>
          <a:p>
            <a:pPr algn="l" marL="0" indent="0">
              <a:buNone/>
            </a:pPr>
            <a:r>
              <a:rPr sz="950" b="0" i="0">
                <a:solidFill>
                  <a:srgbClr val="1A1A1A"/>
                </a:solidFill>
                <a:latin typeface="Arial"/>
              </a:rPr>
              <a:t>Block not planned by Divisions</a:t>
            </a:r>
          </a:p>
        </p:txBody>
      </p:sp>
      <p:sp>
        <p:nvSpPr>
          <p:cNvPr id="15399" name="TextBox 15398"/>
          <p:cNvSpPr txBox="1"/>
          <p:nvPr/>
        </p:nvSpPr>
        <p:spPr>
          <a:xfrm>
            <a:off x="6508150" y="2862072"/>
            <a:ext cx="1309969" cy="365760"/>
          </a:xfrm>
          <a:prstGeom prst="rect">
            <a:avLst/>
          </a:prstGeom>
          <a:noFill/>
        </p:spPr>
        <p:txBody>
          <a:bodyPr wrap="square" lIns="27432" tIns="9144" rIns="0" bIns="0" anchor="t"/>
          <a:lstStyle/>
          <a:p>
            <a:pPr algn="l" marL="0" indent="0">
              <a:buNone/>
            </a:pPr>
            <a:r>
              <a:rPr sz="900" b="0" i="0">
                <a:solidFill>
                  <a:srgbClr val="595959"/>
                </a:solidFill>
                <a:latin typeface="Arial"/>
              </a:rPr>
              <a:t>Others: operational 19%, TMO programme 11%, staff 5%, no work 3%</a:t>
            </a:r>
          </a:p>
        </p:txBody>
      </p:sp>
      <p:sp>
        <p:nvSpPr>
          <p:cNvPr id="15400" name="TextBox 15399"/>
          <p:cNvSpPr txBox="1"/>
          <p:nvPr/>
        </p:nvSpPr>
        <p:spPr>
          <a:xfrm>
            <a:off x="4279392" y="3264408"/>
            <a:ext cx="3630168" cy="402336"/>
          </a:xfrm>
          <a:prstGeom prst="rect">
            <a:avLst/>
          </a:prstGeom>
          <a:noFill/>
        </p:spPr>
        <p:txBody>
          <a:bodyPr wrap="square" lIns="73152" rIns="73152" anchor="t"/>
          <a:lstStyle/>
          <a:p>
            <a:pPr algn="l" marL="0" indent="0">
              <a:buNone/>
            </a:pPr>
            <a:r>
              <a:rPr sz="1050" b="1" i="0">
                <a:solidFill>
                  <a:srgbClr val="0070C0"/>
                </a:solidFill>
                <a:latin typeface="Arial"/>
              </a:rPr>
              <a:t>62% of idle days trace to blocks not given or not planned. </a:t>
            </a:r>
            <a:r>
              <a:rPr sz="1050" b="0" i="0">
                <a:solidFill>
                  <a:srgbClr val="1A1A1A"/>
                </a:solidFill>
                <a:latin typeface="Arial"/>
              </a:rPr>
              <a:t>CAG 2022, Table 2.4.1</a:t>
            </a:r>
          </a:p>
        </p:txBody>
      </p:sp>
      <p:sp>
        <p:nvSpPr>
          <p:cNvPr id="15401" name="TextBox 15400"/>
          <p:cNvSpPr txBox="1"/>
          <p:nvPr/>
        </p:nvSpPr>
        <p:spPr>
          <a:xfrm>
            <a:off x="4270248" y="3721608"/>
            <a:ext cx="1005840" cy="502920"/>
          </a:xfrm>
          <a:prstGeom prst="rect">
            <a:avLst/>
          </a:prstGeom>
          <a:noFill/>
        </p:spPr>
        <p:txBody>
          <a:bodyPr wrap="square" lIns="36576" tIns="0" rIns="18288" bIns="0" anchor="ctr"/>
          <a:lstStyle/>
          <a:p>
            <a:pPr algn="l" marL="0" indent="0">
              <a:buNone/>
            </a:pPr>
            <a:r>
              <a:rPr sz="2200" b="1" i="0">
                <a:solidFill>
                  <a:srgbClr val="0070C0"/>
                </a:solidFill>
                <a:latin typeface="Arial"/>
              </a:rPr>
              <a:t>~50%</a:t>
            </a:r>
          </a:p>
        </p:txBody>
      </p:sp>
      <p:sp>
        <p:nvSpPr>
          <p:cNvPr id="15402" name="TextBox 15401"/>
          <p:cNvSpPr txBox="1"/>
          <p:nvPr/>
        </p:nvSpPr>
        <p:spPr>
          <a:xfrm>
            <a:off x="5276088" y="3721608"/>
            <a:ext cx="2624328" cy="502920"/>
          </a:xfrm>
          <a:prstGeom prst="rect">
            <a:avLst/>
          </a:prstGeom>
          <a:noFill/>
        </p:spPr>
        <p:txBody>
          <a:bodyPr wrap="square" lIns="36576" tIns="0" rIns="36576" bIns="0" anchor="ctr"/>
          <a:lstStyle/>
          <a:p>
            <a:pPr algn="l" marL="0" indent="0">
              <a:buNone/>
            </a:pPr>
            <a:r>
              <a:rPr sz="1000" b="0" i="0">
                <a:solidFill>
                  <a:srgbClr val="1A1A1A"/>
                </a:solidFill>
                <a:latin typeface="Arial"/>
              </a:rPr>
              <a:t>shortage of blocks against Engineering's demand on audited sections. CAG 2018, para 3.5</a:t>
            </a:r>
          </a:p>
        </p:txBody>
      </p:sp>
      <p:sp>
        <p:nvSpPr>
          <p:cNvPr id="15403" name="TextBox 15402"/>
          <p:cNvSpPr txBox="1"/>
          <p:nvPr/>
        </p:nvSpPr>
        <p:spPr>
          <a:xfrm>
            <a:off x="4251959" y="4288536"/>
            <a:ext cx="3685032" cy="256032"/>
          </a:xfrm>
          <a:prstGeom prst="rect">
            <a:avLst/>
          </a:prstGeom>
          <a:noFill/>
        </p:spPr>
        <p:txBody>
          <a:bodyPr wrap="square" lIns="73152" rIns="73152" anchor="t"/>
          <a:lstStyle/>
          <a:p>
            <a:pPr algn="l" marL="0" indent="0">
              <a:buNone/>
            </a:pPr>
            <a:r>
              <a:rPr sz="1150" b="1" i="0">
                <a:solidFill>
                  <a:srgbClr val="1F3864"/>
                </a:solidFill>
                <a:latin typeface="Arial"/>
              </a:rPr>
              <a:t>How we address each cause</a:t>
            </a:r>
          </a:p>
        </p:txBody>
      </p:sp>
      <p:sp>
        <p:nvSpPr>
          <p:cNvPr id="15404" name="TextBox 15403"/>
          <p:cNvSpPr txBox="1"/>
          <p:nvPr/>
        </p:nvSpPr>
        <p:spPr>
          <a:xfrm>
            <a:off x="4251959" y="4544568"/>
            <a:ext cx="3685032" cy="1691639"/>
          </a:xfrm>
          <a:prstGeom prst="rect">
            <a:avLst/>
          </a:prstGeom>
          <a:noFill/>
        </p:spPr>
        <p:txBody>
          <a:bodyPr wrap="square" lIns="73152" rIns="73152" anchor="t"/>
          <a:lstStyle/>
          <a:p>
            <a:pPr algn="l" marL="155448" indent="-155448">
              <a:spcAft>
                <a:spcPts val="300"/>
              </a:spcAft>
              <a:buFont typeface="Arial"/>
              <a:buChar char="•"/>
            </a:pPr>
            <a:r>
              <a:rPr sz="1050" b="1" i="0">
                <a:solidFill>
                  <a:srgbClr val="1A1A1A"/>
                </a:solidFill>
                <a:latin typeface="Arial"/>
              </a:rPr>
              <a:t>Not planned (30%): </a:t>
            </a:r>
            <a:r>
              <a:rPr sz="1050" b="0" i="0">
                <a:solidFill>
                  <a:srgbClr val="1A1A1A"/>
                </a:solidFill>
                <a:latin typeface="Arial"/>
              </a:rPr>
              <a:t>the planner builds block demands from overdue tasks and corridor supply.</a:t>
            </a:r>
          </a:p>
          <a:p>
            <a:pPr algn="l" marL="155448" indent="-155448">
              <a:spcAft>
                <a:spcPts val="300"/>
              </a:spcAft>
              <a:buFont typeface="Arial"/>
              <a:buChar char="•"/>
            </a:pPr>
            <a:r>
              <a:rPr sz="1050" b="1" i="0">
                <a:solidFill>
                  <a:srgbClr val="1A1A1A"/>
                </a:solidFill>
                <a:latin typeface="Arial"/>
              </a:rPr>
              <a:t>Not given (32%): </a:t>
            </a:r>
            <a:r>
              <a:rPr sz="1050" b="0" i="0">
                <a:solidFill>
                  <a:srgbClr val="1A1A1A"/>
                </a:solidFill>
                <a:latin typeface="Arial"/>
              </a:rPr>
              <a:t>we cannot grant blocks; approvers see each block's train-delay cost by class.</a:t>
            </a:r>
          </a:p>
          <a:p>
            <a:pPr algn="l" marL="155448" indent="-155448">
              <a:spcAft>
                <a:spcPts val="0"/>
              </a:spcAft>
              <a:buFont typeface="Arial"/>
              <a:buChar char="•"/>
            </a:pPr>
            <a:r>
              <a:rPr sz="1050" b="1" i="0">
                <a:solidFill>
                  <a:srgbClr val="1A1A1A"/>
                </a:solidFill>
                <a:latin typeface="Arial"/>
              </a:rPr>
              <a:t>Supply is fixed: </a:t>
            </a:r>
            <a:r>
              <a:rPr sz="1050" b="0" i="0">
                <a:solidFill>
                  <a:srgbClr val="1A1A1A"/>
                </a:solidFill>
                <a:latin typeface="Arial"/>
              </a:rPr>
              <a:t>merging jobs removes repeated setup and closures on a section (CAG 2022, para 2.8).</a:t>
            </a:r>
          </a:p>
        </p:txBody>
      </p:sp>
      <p:sp>
        <p:nvSpPr>
          <p:cNvPr id="15405" name="TextBox 15404"/>
          <p:cNvSpPr txBox="1"/>
          <p:nvPr/>
        </p:nvSpPr>
        <p:spPr>
          <a:xfrm>
            <a:off x="8119871" y="2130552"/>
            <a:ext cx="3685032" cy="2834640"/>
          </a:xfrm>
          <a:prstGeom prst="rect">
            <a:avLst/>
          </a:prstGeom>
          <a:noFill/>
        </p:spPr>
        <p:txBody>
          <a:bodyPr wrap="square" lIns="73152" rIns="73152" anchor="t"/>
          <a:lstStyle/>
          <a:p>
            <a:pPr algn="l" marL="0" indent="0">
              <a:spcAft>
                <a:spcPts val="100"/>
              </a:spcAft>
              <a:buNone/>
            </a:pPr>
            <a:r>
              <a:rPr sz="1100" b="1" i="0">
                <a:solidFill>
                  <a:srgbClr val="1F3864"/>
                </a:solidFill>
                <a:latin typeface="Arial"/>
              </a:rPr>
              <a:t>1  Physics-aware composition </a:t>
            </a:r>
            <a:r>
              <a:rPr sz="1100" b="1" i="0">
                <a:solidFill>
                  <a:srgbClr val="0070C0"/>
                </a:solidFill>
                <a:latin typeface="Arial"/>
              </a:rPr>
              <a:t>(in prototype)</a:t>
            </a:r>
          </a:p>
          <a:p>
            <a:pPr algn="l" marL="0" indent="0">
              <a:spcAft>
                <a:spcPts val="100"/>
              </a:spcAft>
              <a:buNone/>
            </a:pPr>
            <a:r>
              <a:rPr sz="1100" b="0" i="0">
                <a:solidFill>
                  <a:srgbClr val="595959"/>
                </a:solidFill>
                <a:latin typeface="Arial"/>
              </a:rPr>
              <a:t>Typical: </a:t>
            </a:r>
            <a:r>
              <a:rPr sz="1100" b="0" i="0">
                <a:solidFill>
                  <a:srgbClr val="1A1A1A"/>
                </a:solidFill>
                <a:latin typeface="Arial"/>
              </a:rPr>
              <a:t>merge jobs that are close in km.</a:t>
            </a:r>
          </a:p>
          <a:p>
            <a:pPr algn="l" marL="0" indent="0">
              <a:spcAft>
                <a:spcPts val="100"/>
              </a:spcAft>
              <a:buNone/>
            </a:pPr>
            <a:r>
              <a:rPr sz="1100" b="1" i="0">
                <a:solidFill>
                  <a:srgbClr val="1F3864"/>
                </a:solidFill>
                <a:latin typeface="Arial"/>
              </a:rPr>
              <a:t>Ours: </a:t>
            </a:r>
            <a:r>
              <a:rPr sz="1100" b="0" i="0">
                <a:solidFill>
                  <a:srgbClr val="1A1A1A"/>
                </a:solidFill>
                <a:latin typeface="Arial"/>
              </a:rPr>
              <a:t>keep </a:t>
            </a:r>
            <a:r>
              <a:rPr sz="1100" b="1" i="0">
                <a:solidFill>
                  <a:srgbClr val="1A1A1A"/>
                </a:solidFill>
                <a:latin typeface="Arial"/>
              </a:rPr>
              <a:t>job order and lag</a:t>
            </a:r>
            <a:r>
              <a:rPr sz="1100" b="0" i="0">
                <a:solidFill>
                  <a:srgbClr val="1A1A1A"/>
                </a:solidFill>
                <a:latin typeface="Arial"/>
              </a:rPr>
              <a:t> (machine-top work needs an OHE block, IRTMM Ch. 5).</a:t>
            </a:r>
          </a:p>
          <a:p>
            <a:pPr algn="l" marL="0" indent="0">
              <a:spcAft>
                <a:spcPts val="700"/>
              </a:spcAft>
              <a:buNone/>
            </a:pPr>
            <a:r>
              <a:rPr sz="1100" b="1" i="0">
                <a:solidFill>
                  <a:srgbClr val="9A4A00"/>
                </a:solidFill>
                <a:latin typeface="Arial"/>
              </a:rPr>
              <a:t>Cost: </a:t>
            </a:r>
            <a:r>
              <a:rPr sz="1100" b="0" i="0">
                <a:solidFill>
                  <a:srgbClr val="1A1A1A"/>
                </a:solidFill>
                <a:latin typeface="Arial"/>
              </a:rPr>
              <a:t>fewer merges, all feasible.</a:t>
            </a:r>
          </a:p>
          <a:p>
            <a:pPr algn="l" marL="0" indent="0">
              <a:spcAft>
                <a:spcPts val="100"/>
              </a:spcAft>
              <a:buNone/>
            </a:pPr>
            <a:r>
              <a:rPr sz="1100" b="1" i="0">
                <a:solidFill>
                  <a:srgbClr val="1F3864"/>
                </a:solidFill>
                <a:latin typeface="Arial"/>
              </a:rPr>
              <a:t>2  Usable-minute planning </a:t>
            </a:r>
            <a:r>
              <a:rPr sz="1100" b="1" i="0">
                <a:solidFill>
                  <a:srgbClr val="0070C0"/>
                </a:solidFill>
                <a:latin typeface="Arial"/>
              </a:rPr>
              <a:t>(in prototype)</a:t>
            </a:r>
          </a:p>
          <a:p>
            <a:pPr algn="l" marL="0" indent="0">
              <a:spcAft>
                <a:spcPts val="100"/>
              </a:spcAft>
              <a:buNone/>
            </a:pPr>
            <a:r>
              <a:rPr sz="1100" b="0" i="0">
                <a:solidFill>
                  <a:srgbClr val="595959"/>
                </a:solidFill>
                <a:latin typeface="Arial"/>
              </a:rPr>
              <a:t>Typical: </a:t>
            </a:r>
            <a:r>
              <a:rPr sz="1100" b="0" i="0">
                <a:solidFill>
                  <a:srgbClr val="1A1A1A"/>
                </a:solidFill>
                <a:latin typeface="Arial"/>
              </a:rPr>
              <a:t>fit work into the granted window.</a:t>
            </a:r>
          </a:p>
          <a:p>
            <a:pPr algn="l" marL="0" indent="0">
              <a:spcAft>
                <a:spcPts val="100"/>
              </a:spcAft>
              <a:buNone/>
            </a:pPr>
            <a:r>
              <a:rPr sz="1100" b="1" i="0">
                <a:solidFill>
                  <a:srgbClr val="1F3864"/>
                </a:solidFill>
                <a:latin typeface="Arial"/>
              </a:rPr>
              <a:t>Ours: </a:t>
            </a:r>
            <a:r>
              <a:rPr sz="1100" b="1" i="0">
                <a:solidFill>
                  <a:srgbClr val="1A1A1A"/>
                </a:solidFill>
                <a:latin typeface="Arial"/>
              </a:rPr>
              <a:t>subtract permits, earthing, transit</a:t>
            </a:r>
            <a:r>
              <a:rPr sz="1100" b="0" i="0">
                <a:solidFill>
                  <a:srgbClr val="1A1A1A"/>
                </a:solidFill>
                <a:latin typeface="Arial"/>
              </a:rPr>
              <a:t> first (NAIR 2017, via CAG 2022, para 2.4).</a:t>
            </a:r>
          </a:p>
          <a:p>
            <a:pPr algn="l" marL="0" indent="0">
              <a:spcAft>
                <a:spcPts val="0"/>
              </a:spcAft>
              <a:buNone/>
            </a:pPr>
            <a:r>
              <a:rPr sz="1100" b="1" i="0">
                <a:solidFill>
                  <a:srgbClr val="9A4A00"/>
                </a:solidFill>
                <a:latin typeface="Arial"/>
              </a:rPr>
              <a:t>Cost: </a:t>
            </a:r>
            <a:r>
              <a:rPr sz="1100" b="0" i="0">
                <a:solidFill>
                  <a:srgbClr val="1A1A1A"/>
                </a:solidFill>
                <a:latin typeface="Arial"/>
              </a:rPr>
              <a:t>less work per block, fewer overruns.</a:t>
            </a:r>
          </a:p>
        </p:txBody>
      </p:sp>
      <p:sp>
        <p:nvSpPr>
          <p:cNvPr id="15406" name="TextBox 15405"/>
          <p:cNvSpPr txBox="1"/>
          <p:nvPr/>
        </p:nvSpPr>
        <p:spPr>
          <a:xfrm>
            <a:off x="8183879" y="4937760"/>
            <a:ext cx="3511296" cy="201168"/>
          </a:xfrm>
          <a:prstGeom prst="rect">
            <a:avLst/>
          </a:prstGeom>
          <a:noFill/>
        </p:spPr>
        <p:txBody>
          <a:bodyPr wrap="square" lIns="45720" tIns="0" rIns="0" bIns="0" anchor="t"/>
          <a:lstStyle/>
          <a:p>
            <a:pPr algn="l" marL="0" indent="0">
              <a:buNone/>
            </a:pPr>
            <a:r>
              <a:rPr sz="950" b="1" i="0">
                <a:solidFill>
                  <a:srgbClr val="1F3864"/>
                </a:solidFill>
                <a:latin typeface="Arial"/>
              </a:rPr>
              <a:t>A 120-minute block, illustrative</a:t>
            </a:r>
          </a:p>
        </p:txBody>
      </p:sp>
      <p:sp>
        <p:nvSpPr>
          <p:cNvPr id="15407" name="Rectangle 15406"/>
          <p:cNvSpPr/>
          <p:nvPr/>
        </p:nvSpPr>
        <p:spPr>
          <a:xfrm>
            <a:off x="8229600" y="5157216"/>
            <a:ext cx="288797" cy="274320"/>
          </a:xfrm>
          <a:prstGeom prst="rect">
            <a:avLst/>
          </a:prstGeom>
          <a:solidFill>
            <a:srgbClr val="D5DEEA"/>
          </a:solidFill>
          <a:ln w="9525">
            <a:solidFill>
              <a:srgbClr val="FFFFFF"/>
            </a:solidFill>
          </a:ln>
          <a:effectLst/>
        </p:spPr>
        <p:txBody>
          <a:bodyPr rtlCol="0" anchor="ctr" wrap="square" lIns="0" rIns="0" tIns="27432" bIns="27432"/>
          <a:lstStyle/>
          <a:p>
            <a:pPr algn="ctr">
              <a:spcAft>
                <a:spcPts val="0"/>
              </a:spcAft>
            </a:pPr>
            <a:r>
              <a:rPr sz="900" b="1" i="0">
                <a:solidFill>
                  <a:srgbClr val="1A1A1A"/>
                </a:solidFill>
                <a:latin typeface="Arial"/>
              </a:rPr>
              <a:t>10</a:t>
            </a:r>
          </a:p>
        </p:txBody>
      </p:sp>
      <p:sp>
        <p:nvSpPr>
          <p:cNvPr id="15408" name="Rectangle 15407"/>
          <p:cNvSpPr/>
          <p:nvPr/>
        </p:nvSpPr>
        <p:spPr>
          <a:xfrm>
            <a:off x="8518398" y="5157216"/>
            <a:ext cx="433197" cy="274320"/>
          </a:xfrm>
          <a:prstGeom prst="rect">
            <a:avLst/>
          </a:prstGeom>
          <a:solidFill>
            <a:srgbClr val="D5DEEA"/>
          </a:solidFill>
          <a:ln w="9525">
            <a:solidFill>
              <a:srgbClr val="FFFFFF"/>
            </a:solidFill>
          </a:ln>
          <a:effectLst/>
        </p:spPr>
        <p:txBody>
          <a:bodyPr rtlCol="0" anchor="ctr" wrap="square" lIns="0" rIns="0" tIns="27432" bIns="27432"/>
          <a:lstStyle/>
          <a:p>
            <a:pPr algn="ctr">
              <a:spcAft>
                <a:spcPts val="0"/>
              </a:spcAft>
            </a:pPr>
            <a:r>
              <a:rPr sz="900" b="1" i="0">
                <a:solidFill>
                  <a:srgbClr val="1A1A1A"/>
                </a:solidFill>
                <a:latin typeface="Arial"/>
              </a:rPr>
              <a:t>15</a:t>
            </a:r>
          </a:p>
        </p:txBody>
      </p:sp>
      <p:sp>
        <p:nvSpPr>
          <p:cNvPr id="15409" name="Rectangle 15408"/>
          <p:cNvSpPr/>
          <p:nvPr/>
        </p:nvSpPr>
        <p:spPr>
          <a:xfrm>
            <a:off x="8951595" y="5157216"/>
            <a:ext cx="288797" cy="274320"/>
          </a:xfrm>
          <a:prstGeom prst="rect">
            <a:avLst/>
          </a:prstGeom>
          <a:solidFill>
            <a:srgbClr val="D5DEEA"/>
          </a:solidFill>
          <a:ln w="9525">
            <a:solidFill>
              <a:srgbClr val="FFFFFF"/>
            </a:solidFill>
          </a:ln>
          <a:effectLst/>
        </p:spPr>
        <p:txBody>
          <a:bodyPr rtlCol="0" anchor="ctr" wrap="square" lIns="0" rIns="0" tIns="27432" bIns="27432"/>
          <a:lstStyle/>
          <a:p>
            <a:pPr algn="ctr">
              <a:spcAft>
                <a:spcPts val="0"/>
              </a:spcAft>
            </a:pPr>
            <a:r>
              <a:rPr sz="900" b="1" i="0">
                <a:solidFill>
                  <a:srgbClr val="1A1A1A"/>
                </a:solidFill>
                <a:latin typeface="Arial"/>
              </a:rPr>
              <a:t>10</a:t>
            </a:r>
          </a:p>
        </p:txBody>
      </p:sp>
      <p:sp>
        <p:nvSpPr>
          <p:cNvPr id="15410" name="Rectangle 15409"/>
          <p:cNvSpPr/>
          <p:nvPr/>
        </p:nvSpPr>
        <p:spPr>
          <a:xfrm>
            <a:off x="9240393" y="5157216"/>
            <a:ext cx="2021586" cy="274320"/>
          </a:xfrm>
          <a:prstGeom prst="rect">
            <a:avLst/>
          </a:prstGeom>
          <a:solidFill>
            <a:srgbClr val="0070C0"/>
          </a:solidFill>
          <a:ln w="9525">
            <a:solidFill>
              <a:srgbClr val="FFFFFF"/>
            </a:solidFill>
          </a:ln>
          <a:effectLst/>
        </p:spPr>
        <p:txBody>
          <a:bodyPr rtlCol="0" anchor="ctr" wrap="square" lIns="0" rIns="0" tIns="27432" bIns="27432"/>
          <a:lstStyle/>
          <a:p>
            <a:pPr algn="ctr">
              <a:spcAft>
                <a:spcPts val="0"/>
              </a:spcAft>
            </a:pPr>
            <a:r>
              <a:rPr sz="900" b="1" i="0">
                <a:solidFill>
                  <a:srgbClr val="FFFFFF"/>
                </a:solidFill>
                <a:latin typeface="Arial"/>
              </a:rPr>
              <a:t>70 work</a:t>
            </a:r>
          </a:p>
        </p:txBody>
      </p:sp>
      <p:sp>
        <p:nvSpPr>
          <p:cNvPr id="15411" name="Rectangle 15410"/>
          <p:cNvSpPr/>
          <p:nvPr/>
        </p:nvSpPr>
        <p:spPr>
          <a:xfrm>
            <a:off x="11261979" y="5157216"/>
            <a:ext cx="433197" cy="274320"/>
          </a:xfrm>
          <a:prstGeom prst="rect">
            <a:avLst/>
          </a:prstGeom>
          <a:solidFill>
            <a:srgbClr val="D5DEEA"/>
          </a:solidFill>
          <a:ln w="9525">
            <a:solidFill>
              <a:srgbClr val="FFFFFF"/>
            </a:solidFill>
          </a:ln>
          <a:effectLst/>
        </p:spPr>
        <p:txBody>
          <a:bodyPr rtlCol="0" anchor="ctr" wrap="square" lIns="0" rIns="0" tIns="27432" bIns="27432"/>
          <a:lstStyle/>
          <a:p>
            <a:pPr algn="ctr">
              <a:spcAft>
                <a:spcPts val="0"/>
              </a:spcAft>
            </a:pPr>
            <a:r>
              <a:rPr sz="900" b="1" i="0">
                <a:solidFill>
                  <a:srgbClr val="1A1A1A"/>
                </a:solidFill>
                <a:latin typeface="Arial"/>
              </a:rPr>
              <a:t>15</a:t>
            </a:r>
          </a:p>
        </p:txBody>
      </p:sp>
      <p:sp>
        <p:nvSpPr>
          <p:cNvPr id="15412" name="TextBox 15411"/>
          <p:cNvSpPr txBox="1"/>
          <p:nvPr/>
        </p:nvSpPr>
        <p:spPr>
          <a:xfrm>
            <a:off x="8183879" y="5449824"/>
            <a:ext cx="3511296" cy="566928"/>
          </a:xfrm>
          <a:prstGeom prst="rect">
            <a:avLst/>
          </a:prstGeom>
          <a:noFill/>
        </p:spPr>
        <p:txBody>
          <a:bodyPr wrap="square" lIns="45720" tIns="0" rIns="18288" bIns="0" anchor="t"/>
          <a:lstStyle/>
          <a:p>
            <a:pPr algn="l" marL="0" indent="0">
              <a:buNone/>
            </a:pPr>
            <a:r>
              <a:rPr sz="900" b="0" i="1">
                <a:solidFill>
                  <a:srgbClr val="595959"/>
                </a:solidFill>
                <a:latin typeface="Arial"/>
              </a:rPr>
              <a:t>Isolate 10 · Earth 15 · Transit 10 · Work 70 · Restore 15 (assumed minutes). An 80-minute job does not fit: it is split or moved.</a:t>
            </a:r>
          </a:p>
        </p:txBody>
      </p:sp>
      <p:sp>
        <p:nvSpPr>
          <p:cNvPr id="15413" name="TextBox 15412"/>
          <p:cNvSpPr txBox="1"/>
          <p:nvPr/>
        </p:nvSpPr>
        <p:spPr>
          <a:xfrm>
            <a:off x="8119871" y="5907024"/>
            <a:ext cx="3685032" cy="384048"/>
          </a:xfrm>
          <a:prstGeom prst="rect">
            <a:avLst/>
          </a:prstGeom>
          <a:noFill/>
        </p:spPr>
        <p:txBody>
          <a:bodyPr wrap="square" lIns="73152" tIns="0" rIns="45720" bIns="0" anchor="t"/>
          <a:lstStyle/>
          <a:p>
            <a:pPr algn="l" marL="0" indent="0">
              <a:buNone/>
            </a:pPr>
            <a:r>
              <a:rPr sz="1000" b="1" i="0">
                <a:solidFill>
                  <a:srgbClr val="9A4A00"/>
                </a:solidFill>
                <a:latin typeface="Arial"/>
              </a:rPr>
              <a:t>Later phase: </a:t>
            </a:r>
            <a:r>
              <a:rPr sz="1000" b="0" i="0">
                <a:solidFill>
                  <a:srgbClr val="1A1A1A"/>
                </a:solidFill>
                <a:latin typeface="Arial"/>
              </a:rPr>
              <a:t>fallback windows if a block is denied; risk-versus-delay view.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b="1" sz="1300"/>
              <a:t>InnoByte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1691640" y="896112"/>
            <a:ext cx="8046720" cy="310896"/>
          </a:xfrm>
          <a:prstGeom prst="rect">
            <a:avLst/>
          </a:prstGeom>
          <a:noFill/>
        </p:spPr>
        <p:txBody>
          <a:bodyPr wrap="square" lIns="73152" rIns="73152" anchor="ctr"/>
          <a:lstStyle/>
          <a:p>
            <a:pPr algn="ctr" marL="0" indent="0">
              <a:buNone/>
            </a:pPr>
            <a:r>
              <a:rPr sz="1200" b="1" i="0">
                <a:solidFill>
                  <a:srgbClr val="1F3864"/>
                </a:solidFill>
                <a:latin typeface="Arial"/>
              </a:rPr>
              <a:t>Project: </a:t>
            </a:r>
            <a:r>
              <a:rPr sz="1200" b="0" i="0">
                <a:solidFill>
                  <a:srgbClr val="1A1A1A"/>
                </a:solidFill>
                <a:latin typeface="Arial"/>
              </a:rPr>
              <a:t>Integrated Maintenance Block Planner. </a:t>
            </a:r>
            <a:r>
              <a:rPr sz="1200" b="1" i="0">
                <a:solidFill>
                  <a:srgbClr val="1F3864"/>
                </a:solidFill>
                <a:latin typeface="Arial"/>
              </a:rPr>
              <a:t>AI-assisted prioritisation + constraint optimisation.</a:t>
            </a:r>
          </a:p>
        </p:txBody>
      </p:sp>
      <p:sp>
        <p:nvSpPr>
          <p:cNvPr id="17411" name="Rectangle 17410"/>
          <p:cNvSpPr/>
          <p:nvPr/>
        </p:nvSpPr>
        <p:spPr>
          <a:xfrm>
            <a:off x="365760" y="1783080"/>
            <a:ext cx="4983480" cy="4480559"/>
          </a:xfrm>
          <a:prstGeom prst="rect">
            <a:avLst/>
          </a:prstGeom>
          <a:solidFill>
            <a:srgbClr val="F7F9FC"/>
          </a:solidFill>
          <a:ln w="9525">
            <a:solidFill>
              <a:srgbClr val="C9D6E6"/>
            </a:solidFill>
          </a:ln>
          <a:effectLst/>
        </p:spPr>
        <p:txBody>
          <a:bodyPr rtlCol="0" anchor="ctr"/>
          <a:lstStyle/>
          <a:p/>
        </p:txBody>
      </p:sp>
      <p:sp>
        <p:nvSpPr>
          <p:cNvPr id="17412" name="Rectangle 17411"/>
          <p:cNvSpPr/>
          <p:nvPr/>
        </p:nvSpPr>
        <p:spPr>
          <a:xfrm>
            <a:off x="5486400" y="1783080"/>
            <a:ext cx="6336792" cy="4480559"/>
          </a:xfrm>
          <a:prstGeom prst="rect">
            <a:avLst/>
          </a:prstGeom>
          <a:solidFill>
            <a:srgbClr val="F7F9FC"/>
          </a:solidFill>
          <a:ln w="9525">
            <a:solidFill>
              <a:srgbClr val="C9D6E6"/>
            </a:solidFill>
          </a:ln>
          <a:effectLst/>
        </p:spPr>
        <p:txBody>
          <a:bodyPr rtlCol="0" anchor="ctr"/>
          <a:lstStyle/>
          <a:p/>
        </p:txBody>
      </p:sp>
      <p:sp>
        <p:nvSpPr>
          <p:cNvPr id="17413" name="Rectangle 17412"/>
          <p:cNvSpPr/>
          <p:nvPr/>
        </p:nvSpPr>
        <p:spPr>
          <a:xfrm>
            <a:off x="365760" y="1234440"/>
            <a:ext cx="4983480" cy="548640"/>
          </a:xfrm>
          <a:prstGeom prst="rect">
            <a:avLst/>
          </a:prstGeom>
          <a:solidFill>
            <a:srgbClr val="1F3864"/>
          </a:solidFill>
          <a:ln w="9525">
            <a:solidFill>
              <a:srgbClr val="1F3864"/>
            </a:solidFill>
          </a:ln>
          <a:effectLst/>
        </p:spPr>
        <p:txBody>
          <a:bodyPr rtlCol="0" anchor="ctr" wrap="square" lIns="109728" rIns="109728" tIns="36576" bIns="36576"/>
          <a:lstStyle/>
          <a:p>
            <a:pPr algn="l"/>
            <a:r>
              <a:rPr sz="1200" b="1" i="0">
                <a:solidFill>
                  <a:srgbClr val="FFFFFF"/>
                </a:solidFill>
                <a:latin typeface="Arial"/>
              </a:rPr>
              <a:t>Technologies to be used (e.g. programming languages, frameworks, hardware)</a:t>
            </a:r>
          </a:p>
        </p:txBody>
      </p:sp>
      <p:sp>
        <p:nvSpPr>
          <p:cNvPr id="17414" name="Rectangle 17413"/>
          <p:cNvSpPr/>
          <p:nvPr/>
        </p:nvSpPr>
        <p:spPr>
          <a:xfrm>
            <a:off x="5486400" y="1234440"/>
            <a:ext cx="6336792" cy="548640"/>
          </a:xfrm>
          <a:prstGeom prst="rect">
            <a:avLst/>
          </a:prstGeom>
          <a:solidFill>
            <a:srgbClr val="1F3864"/>
          </a:solidFill>
          <a:ln w="9525">
            <a:solidFill>
              <a:srgbClr val="1F3864"/>
            </a:solidFill>
          </a:ln>
          <a:effectLst/>
        </p:spPr>
        <p:txBody>
          <a:bodyPr rtlCol="0" anchor="ctr" wrap="square" lIns="109728" rIns="109728" tIns="36576" bIns="36576"/>
          <a:lstStyle/>
          <a:p>
            <a:pPr algn="l"/>
            <a:r>
              <a:rPr sz="1200" b="1" i="0">
                <a:solidFill>
                  <a:srgbClr val="FFFFFF"/>
                </a:solidFill>
                <a:latin typeface="Arial"/>
              </a:rPr>
              <a:t>Methodology and process for implementation (Flow Charts/Images/ working prototype)</a:t>
            </a:r>
          </a:p>
        </p:txBody>
      </p:sp>
      <p:sp>
        <p:nvSpPr>
          <p:cNvPr id="17415" name="TextBox 17414"/>
          <p:cNvSpPr txBox="1"/>
          <p:nvPr/>
        </p:nvSpPr>
        <p:spPr>
          <a:xfrm>
            <a:off x="384048" y="1837944"/>
            <a:ext cx="4946904" cy="2377440"/>
          </a:xfrm>
          <a:prstGeom prst="rect">
            <a:avLst/>
          </a:prstGeom>
          <a:noFill/>
        </p:spPr>
        <p:txBody>
          <a:bodyPr wrap="square" lIns="73152" rIns="73152" anchor="t"/>
          <a:lstStyle/>
          <a:p>
            <a:pPr algn="l" marL="0" indent="0">
              <a:spcAft>
                <a:spcPts val="400"/>
              </a:spcAft>
              <a:buNone/>
            </a:pPr>
            <a:r>
              <a:rPr sz="1050" b="1" i="0">
                <a:solidFill>
                  <a:srgbClr val="1F3864"/>
                </a:solidFill>
                <a:latin typeface="Arial"/>
              </a:rPr>
              <a:t>OR-Tools CP-SAT: </a:t>
            </a:r>
            <a:r>
              <a:rPr sz="1050" b="0" i="0">
                <a:solidFill>
                  <a:srgbClr val="1A1A1A"/>
                </a:solidFill>
                <a:latin typeface="Arial"/>
              </a:rPr>
              <a:t>constraint-based scheduling is required to produce feasible plans under hard railway constraints, rather than relying on a purely predictive model.</a:t>
            </a:r>
          </a:p>
          <a:p>
            <a:pPr algn="l" marL="0" indent="0">
              <a:spcAft>
                <a:spcPts val="400"/>
              </a:spcAft>
              <a:buNone/>
            </a:pPr>
            <a:r>
              <a:rPr sz="1050" b="1" i="0">
                <a:solidFill>
                  <a:srgbClr val="1F3864"/>
                </a:solidFill>
                <a:latin typeface="Arial"/>
              </a:rPr>
              <a:t>XGBoost: </a:t>
            </a:r>
            <a:r>
              <a:rPr sz="1050" b="0" i="0">
                <a:solidFill>
                  <a:srgbClr val="1A1A1A"/>
                </a:solidFill>
                <a:latin typeface="Arial"/>
              </a:rPr>
              <a:t>ranks tasks within an already-defined safety tier using severity, overdue days, asset criticality and traffic exposure; it does not make safety decisions.</a:t>
            </a:r>
          </a:p>
          <a:p>
            <a:pPr algn="l" marL="0" indent="0">
              <a:spcAft>
                <a:spcPts val="400"/>
              </a:spcAft>
              <a:buNone/>
            </a:pPr>
            <a:r>
              <a:rPr sz="1050" b="1" i="0">
                <a:solidFill>
                  <a:srgbClr val="1F3864"/>
                </a:solidFill>
                <a:latin typeface="Arial"/>
              </a:rPr>
              <a:t>Python + FastAPI: </a:t>
            </a:r>
            <a:r>
              <a:rPr sz="1050" b="0" i="0">
                <a:solidFill>
                  <a:srgbClr val="1A1A1A"/>
                </a:solidFill>
                <a:latin typeface="Arial"/>
              </a:rPr>
              <a:t>one language across ranking, scheduling and API services reduces integration complexity for the prototype.</a:t>
            </a:r>
          </a:p>
          <a:p>
            <a:pPr algn="l" marL="0" indent="0">
              <a:spcAft>
                <a:spcPts val="400"/>
              </a:spcAft>
              <a:buNone/>
            </a:pPr>
            <a:r>
              <a:rPr sz="1050" b="1" i="0">
                <a:solidFill>
                  <a:srgbClr val="1F3864"/>
                </a:solidFill>
                <a:latin typeface="Arial"/>
              </a:rPr>
              <a:t>PostgreSQL + PostGIS: </a:t>
            </a:r>
            <a:r>
              <a:rPr sz="1050" b="0" i="0">
                <a:solidFill>
                  <a:srgbClr val="1A1A1A"/>
                </a:solidFill>
                <a:latin typeface="Arial"/>
              </a:rPr>
              <a:t>stores jobs and corridor positions in a consistent spatial model, metres along a line, so incompatible or overlapping blocks can be rejected.</a:t>
            </a:r>
          </a:p>
          <a:p>
            <a:pPr algn="l" marL="0" indent="0">
              <a:spcAft>
                <a:spcPts val="400"/>
              </a:spcAft>
              <a:buNone/>
            </a:pPr>
            <a:r>
              <a:rPr sz="1050" b="1" i="0">
                <a:solidFill>
                  <a:srgbClr val="1F3864"/>
                </a:solidFill>
                <a:latin typeface="Arial"/>
              </a:rPr>
              <a:t>Next.js + canvas: </a:t>
            </a:r>
            <a:r>
              <a:rPr sz="1050" b="0" i="0">
                <a:solidFill>
                  <a:srgbClr val="1A1A1A"/>
                </a:solidFill>
                <a:latin typeface="Arial"/>
              </a:rPr>
              <a:t>supports a dense time–distance planning interface without relying on generic dashboard charts.</a:t>
            </a:r>
          </a:p>
          <a:p>
            <a:pPr algn="l" marL="0" indent="0">
              <a:spcAft>
                <a:spcPts val="0"/>
              </a:spcAft>
              <a:buNone/>
            </a:pPr>
            <a:r>
              <a:rPr sz="1050" b="1" i="0">
                <a:solidFill>
                  <a:srgbClr val="1F3864"/>
                </a:solidFill>
                <a:latin typeface="Arial"/>
              </a:rPr>
              <a:t>Docker Compose: </a:t>
            </a:r>
            <a:r>
              <a:rPr sz="1050" b="0" i="0">
                <a:solidFill>
                  <a:srgbClr val="1A1A1A"/>
                </a:solidFill>
                <a:latin typeface="Arial"/>
              </a:rPr>
              <a:t>provides reproducible local deployment without requiring cloud infrastructure. One standard server.</a:t>
            </a:r>
          </a:p>
        </p:txBody>
      </p:sp>
      <p:sp>
        <p:nvSpPr>
          <p:cNvPr id="17416" name="Rectangle 17415"/>
          <p:cNvSpPr/>
          <p:nvPr/>
        </p:nvSpPr>
        <p:spPr>
          <a:xfrm>
            <a:off x="457200" y="4224528"/>
            <a:ext cx="4800600" cy="896112"/>
          </a:xfrm>
          <a:prstGeom prst="rect">
            <a:avLst/>
          </a:prstGeom>
          <a:solidFill>
            <a:srgbClr val="FFFFFF"/>
          </a:solidFill>
          <a:ln w="12700">
            <a:solidFill>
              <a:srgbClr val="1F3864"/>
            </a:solidFill>
          </a:ln>
          <a:effectLst/>
        </p:spPr>
        <p:txBody>
          <a:bodyPr rtlCol="0" anchor="ctr"/>
          <a:lstStyle/>
          <a:p/>
        </p:txBody>
      </p:sp>
      <p:sp>
        <p:nvSpPr>
          <p:cNvPr id="17417" name="TextBox 17416"/>
          <p:cNvSpPr txBox="1"/>
          <p:nvPr/>
        </p:nvSpPr>
        <p:spPr>
          <a:xfrm>
            <a:off x="502920" y="4242816"/>
            <a:ext cx="4709160" cy="859536"/>
          </a:xfrm>
          <a:prstGeom prst="rect">
            <a:avLst/>
          </a:prstGeom>
          <a:noFill/>
        </p:spPr>
        <p:txBody>
          <a:bodyPr wrap="square" lIns="73152" rIns="73152" anchor="ctr"/>
          <a:lstStyle/>
          <a:p>
            <a:pPr algn="l" marL="0" indent="0">
              <a:spcAft>
                <a:spcPts val="200"/>
              </a:spcAft>
              <a:buNone/>
            </a:pPr>
            <a:r>
              <a:rPr sz="1000" b="1" i="0">
                <a:solidFill>
                  <a:srgbClr val="1F3864"/>
                </a:solidFill>
                <a:latin typeface="Arial"/>
              </a:rPr>
              <a:t>What CP-SAT optimises </a:t>
            </a:r>
            <a:r>
              <a:rPr sz="1000" b="0" i="0">
                <a:solidFill>
                  <a:srgbClr val="595959"/>
                </a:solidFill>
                <a:latin typeface="Arial"/>
              </a:rPr>
              <a:t>(weights set by the railway authority)</a:t>
            </a:r>
          </a:p>
          <a:p>
            <a:pPr algn="l" marL="0" indent="0">
              <a:spcAft>
                <a:spcPts val="100"/>
              </a:spcAft>
              <a:buNone/>
            </a:pPr>
            <a:r>
              <a:rPr sz="1000" b="1" i="0">
                <a:solidFill>
                  <a:srgbClr val="0070C0"/>
                </a:solidFill>
                <a:latin typeface="Arial"/>
              </a:rPr>
              <a:t>Maximise: </a:t>
            </a:r>
            <a:r>
              <a:rPr sz="1000" b="0" i="0">
                <a:solidFill>
                  <a:srgbClr val="1A1A1A"/>
                </a:solidFill>
                <a:latin typeface="Arial"/>
              </a:rPr>
              <a:t>critical work completed, asset availability.</a:t>
            </a:r>
          </a:p>
          <a:p>
            <a:pPr algn="l" marL="0" indent="0">
              <a:spcAft>
                <a:spcPts val="0"/>
              </a:spcAft>
              <a:buNone/>
            </a:pPr>
            <a:r>
              <a:rPr sz="1000" b="1" i="0">
                <a:solidFill>
                  <a:srgbClr val="9A4A00"/>
                </a:solidFill>
                <a:latin typeface="Arial"/>
              </a:rPr>
              <a:t>Minimise: </a:t>
            </a:r>
            <a:r>
              <a:rPr sz="1000" b="0" i="0">
                <a:solidFill>
                  <a:srgbClr val="1A1A1A"/>
                </a:solidFill>
                <a:latin typeface="Arial"/>
              </a:rPr>
              <a:t>block count, class-weighted train delay, unused block minutes, plan churn.</a:t>
            </a:r>
          </a:p>
        </p:txBody>
      </p:sp>
      <p:sp>
        <p:nvSpPr>
          <p:cNvPr id="17418" name="Rectangle 17417"/>
          <p:cNvSpPr/>
          <p:nvPr/>
        </p:nvSpPr>
        <p:spPr>
          <a:xfrm>
            <a:off x="457200" y="5212080"/>
            <a:ext cx="4800600" cy="960120"/>
          </a:xfrm>
          <a:prstGeom prst="rect">
            <a:avLst/>
          </a:prstGeom>
          <a:solidFill>
            <a:srgbClr val="E9EDF2"/>
          </a:solidFill>
          <a:ln w="12700">
            <a:solidFill>
              <a:srgbClr val="C9D6E6"/>
            </a:solidFill>
          </a:ln>
          <a:effectLst/>
        </p:spPr>
        <p:txBody>
          <a:bodyPr rtlCol="0" anchor="ctr"/>
          <a:lstStyle/>
          <a:p/>
        </p:txBody>
      </p:sp>
      <p:sp>
        <p:nvSpPr>
          <p:cNvPr id="17419" name="TextBox 17418"/>
          <p:cNvSpPr txBox="1"/>
          <p:nvPr/>
        </p:nvSpPr>
        <p:spPr>
          <a:xfrm>
            <a:off x="502920" y="5230368"/>
            <a:ext cx="4709160" cy="923544"/>
          </a:xfrm>
          <a:prstGeom prst="rect">
            <a:avLst/>
          </a:prstGeom>
          <a:noFill/>
        </p:spPr>
        <p:txBody>
          <a:bodyPr wrap="square" lIns="73152" rIns="73152" anchor="t"/>
          <a:lstStyle/>
          <a:p>
            <a:pPr algn="l" marL="0" indent="0">
              <a:spcAft>
                <a:spcPts val="100"/>
              </a:spcAft>
              <a:buNone/>
            </a:pPr>
            <a:r>
              <a:rPr sz="1100" b="1" i="0">
                <a:solidFill>
                  <a:srgbClr val="1F3864"/>
                </a:solidFill>
                <a:latin typeface="Arial"/>
              </a:rPr>
              <a:t>Prototype status / demo evidence</a:t>
            </a:r>
          </a:p>
          <a:p>
            <a:pPr algn="l" marL="0" indent="0">
              <a:spcAft>
                <a:spcPts val="400"/>
              </a:spcAft>
              <a:buNone/>
            </a:pPr>
            <a:r>
              <a:rPr sz="950" b="0" i="1">
                <a:solidFill>
                  <a:srgbClr val="595959"/>
                </a:solidFill>
                <a:latin typeface="Arial"/>
              </a:rPr>
              <a:t>— to be updated with verified implementation before submission —</a:t>
            </a:r>
          </a:p>
          <a:p>
            <a:pPr algn="l" marL="0" indent="0">
              <a:spcAft>
                <a:spcPts val="0"/>
              </a:spcAft>
              <a:buNone/>
            </a:pPr>
            <a:r>
              <a:rPr sz="1000" b="1" i="0">
                <a:solidFill>
                  <a:srgbClr val="1F3864"/>
                </a:solidFill>
                <a:latin typeface="Arial"/>
              </a:rPr>
              <a:t>Built so far:</a:t>
            </a:r>
            <a:r>
              <a:rPr sz="1000" b="1" i="0">
                <a:solidFill>
                  <a:srgbClr val="1F3864"/>
                </a:solidFill>
                <a:latin typeface="Arial"/>
              </a:rPr>
              <a:t>    GitHub:</a:t>
            </a:r>
            <a:r>
              <a:rPr sz="1000" b="1" i="0">
                <a:solidFill>
                  <a:srgbClr val="1F3864"/>
                </a:solidFill>
                <a:latin typeface="Arial"/>
              </a:rPr>
              <a:t>    Demo video:</a:t>
            </a:r>
          </a:p>
        </p:txBody>
      </p:sp>
      <p:sp>
        <p:nvSpPr>
          <p:cNvPr id="17420" name="Rounded Rectangle 17419"/>
          <p:cNvSpPr/>
          <p:nvPr/>
        </p:nvSpPr>
        <p:spPr>
          <a:xfrm>
            <a:off x="5577840" y="1847088"/>
            <a:ext cx="731520" cy="219456"/>
          </a:xfrm>
          <a:prstGeom prst="roundRect">
            <a:avLst>
              <a:gd name="adj" fmla="val 50000"/>
            </a:avLst>
          </a:prstGeom>
          <a:solidFill>
            <a:srgbClr val="0070C0"/>
          </a:solidFill>
          <a:ln w="9525">
            <a:solidFill>
              <a:srgbClr val="0070C0"/>
            </a:solidFill>
          </a:ln>
          <a:effectLst/>
        </p:spPr>
        <p:txBody>
          <a:bodyPr rtlCol="0" anchor="ctr" wrap="square" lIns="18288" rIns="18288" tIns="27432" bIns="27432"/>
          <a:lstStyle/>
          <a:p>
            <a:pPr algn="ctr">
              <a:spcAft>
                <a:spcPts val="0"/>
              </a:spcAft>
            </a:pPr>
            <a:r>
              <a:rPr sz="1000" b="1" i="0">
                <a:solidFill>
                  <a:srgbClr val="FFFFFF"/>
                </a:solidFill>
                <a:latin typeface="Arial"/>
              </a:rPr>
              <a:t>START</a:t>
            </a:r>
          </a:p>
        </p:txBody>
      </p:sp>
      <p:sp>
        <p:nvSpPr>
          <p:cNvPr id="17421" name="TextBox 17420"/>
          <p:cNvSpPr txBox="1"/>
          <p:nvPr/>
        </p:nvSpPr>
        <p:spPr>
          <a:xfrm>
            <a:off x="6355080" y="1828800"/>
            <a:ext cx="5029200" cy="256032"/>
          </a:xfrm>
          <a:prstGeom prst="rect">
            <a:avLst/>
          </a:prstGeom>
          <a:noFill/>
        </p:spPr>
        <p:txBody>
          <a:bodyPr wrap="square" lIns="18288" tIns="0" rIns="0" bIns="0" anchor="ctr"/>
          <a:lstStyle/>
          <a:p>
            <a:pPr algn="l" marL="0" indent="0">
              <a:buNone/>
            </a:pPr>
            <a:r>
              <a:rPr sz="1050" b="1" i="0">
                <a:solidFill>
                  <a:srgbClr val="1F3864"/>
                </a:solidFill>
                <a:latin typeface="Arial"/>
              </a:rPr>
              <a:t>Six inputs</a:t>
            </a:r>
          </a:p>
        </p:txBody>
      </p:sp>
      <p:sp>
        <p:nvSpPr>
          <p:cNvPr id="17422" name="Rounded Rectangle 17421"/>
          <p:cNvSpPr/>
          <p:nvPr/>
        </p:nvSpPr>
        <p:spPr>
          <a:xfrm>
            <a:off x="5577840" y="2121408"/>
            <a:ext cx="972311" cy="384048"/>
          </a:xfrm>
          <a:prstGeom prst="roundRect">
            <a:avLst>
              <a:gd name="adj" fmla="val 12000"/>
            </a:avLst>
          </a:prstGeom>
          <a:solidFill>
            <a:srgbClr val="1F3864"/>
          </a:solidFill>
          <a:ln w="12700">
            <a:solidFill>
              <a:srgbClr val="1F3864"/>
            </a:solidFill>
          </a:ln>
          <a:effectLst/>
        </p:spPr>
        <p:txBody>
          <a:bodyPr rtlCol="0" anchor="ctr" wrap="square" lIns="36576" rIns="36576" tIns="27432" bIns="27432"/>
          <a:lstStyle/>
          <a:p>
            <a:pPr algn="ctr">
              <a:spcAft>
                <a:spcPts val="0"/>
              </a:spcAft>
            </a:pPr>
            <a:r>
              <a:rPr sz="950" b="1" i="0">
                <a:solidFill>
                  <a:srgbClr val="FFFFFF"/>
                </a:solidFill>
                <a:latin typeface="Arial"/>
              </a:rPr>
              <a:t>TMS defects</a:t>
            </a:r>
          </a:p>
        </p:txBody>
      </p:sp>
      <p:sp>
        <p:nvSpPr>
          <p:cNvPr id="17423" name="Rounded Rectangle 17422"/>
          <p:cNvSpPr/>
          <p:nvPr/>
        </p:nvSpPr>
        <p:spPr>
          <a:xfrm>
            <a:off x="6614159" y="2121408"/>
            <a:ext cx="972311" cy="384048"/>
          </a:xfrm>
          <a:prstGeom prst="roundRect">
            <a:avLst>
              <a:gd name="adj" fmla="val 12000"/>
            </a:avLst>
          </a:prstGeom>
          <a:solidFill>
            <a:srgbClr val="1F3864"/>
          </a:solidFill>
          <a:ln w="12700">
            <a:solidFill>
              <a:srgbClr val="1F3864"/>
            </a:solidFill>
          </a:ln>
          <a:effectLst/>
        </p:spPr>
        <p:txBody>
          <a:bodyPr rtlCol="0" anchor="ctr" wrap="square" lIns="36576" rIns="36576" tIns="27432" bIns="27432"/>
          <a:lstStyle/>
          <a:p>
            <a:pPr algn="ctr">
              <a:spcAft>
                <a:spcPts val="0"/>
              </a:spcAft>
            </a:pPr>
            <a:r>
              <a:rPr sz="950" b="1" i="0">
                <a:solidFill>
                  <a:srgbClr val="FFFFFF"/>
                </a:solidFill>
                <a:latin typeface="Arial"/>
              </a:rPr>
              <a:t>SMMS work</a:t>
            </a:r>
          </a:p>
        </p:txBody>
      </p:sp>
      <p:sp>
        <p:nvSpPr>
          <p:cNvPr id="17424" name="Rounded Rectangle 17423"/>
          <p:cNvSpPr/>
          <p:nvPr/>
        </p:nvSpPr>
        <p:spPr>
          <a:xfrm>
            <a:off x="7650480" y="2121408"/>
            <a:ext cx="972311" cy="384048"/>
          </a:xfrm>
          <a:prstGeom prst="roundRect">
            <a:avLst>
              <a:gd name="adj" fmla="val 12000"/>
            </a:avLst>
          </a:prstGeom>
          <a:solidFill>
            <a:srgbClr val="1F3864"/>
          </a:solidFill>
          <a:ln w="12700">
            <a:solidFill>
              <a:srgbClr val="1F3864"/>
            </a:solidFill>
          </a:ln>
          <a:effectLst/>
        </p:spPr>
        <p:txBody>
          <a:bodyPr rtlCol="0" anchor="ctr" wrap="square" lIns="36576" rIns="36576" tIns="27432" bIns="27432"/>
          <a:lstStyle/>
          <a:p>
            <a:pPr algn="ctr">
              <a:spcAft>
                <a:spcPts val="0"/>
              </a:spcAft>
            </a:pPr>
            <a:r>
              <a:rPr sz="950" b="1" i="0">
                <a:solidFill>
                  <a:srgbClr val="FFFFFF"/>
                </a:solidFill>
                <a:latin typeface="Arial"/>
              </a:rPr>
              <a:t>TDMS work</a:t>
            </a:r>
          </a:p>
        </p:txBody>
      </p:sp>
      <p:sp>
        <p:nvSpPr>
          <p:cNvPr id="17425" name="Rounded Rectangle 17424"/>
          <p:cNvSpPr/>
          <p:nvPr/>
        </p:nvSpPr>
        <p:spPr>
          <a:xfrm>
            <a:off x="8686800" y="2121408"/>
            <a:ext cx="972311" cy="384048"/>
          </a:xfrm>
          <a:prstGeom prst="roundRect">
            <a:avLst>
              <a:gd name="adj" fmla="val 12000"/>
            </a:avLst>
          </a:prstGeom>
          <a:solidFill>
            <a:srgbClr val="1F3864"/>
          </a:solidFill>
          <a:ln w="12700">
            <a:solidFill>
              <a:srgbClr val="1F3864"/>
            </a:solidFill>
          </a:ln>
          <a:effectLst/>
        </p:spPr>
        <p:txBody>
          <a:bodyPr rtlCol="0" anchor="ctr" wrap="square" lIns="36576" rIns="36576" tIns="27432" bIns="27432"/>
          <a:lstStyle/>
          <a:p>
            <a:pPr algn="ctr">
              <a:spcAft>
                <a:spcPts val="0"/>
              </a:spcAft>
            </a:pPr>
            <a:r>
              <a:rPr sz="950" b="1" i="0">
                <a:solidFill>
                  <a:srgbClr val="FFFFFF"/>
                </a:solidFill>
                <a:latin typeface="Arial"/>
              </a:rPr>
              <a:t>COA timetable</a:t>
            </a:r>
          </a:p>
        </p:txBody>
      </p:sp>
      <p:sp>
        <p:nvSpPr>
          <p:cNvPr id="17426" name="Rounded Rectangle 17425"/>
          <p:cNvSpPr/>
          <p:nvPr/>
        </p:nvSpPr>
        <p:spPr>
          <a:xfrm>
            <a:off x="9723120" y="2121408"/>
            <a:ext cx="972311" cy="384048"/>
          </a:xfrm>
          <a:prstGeom prst="roundRect">
            <a:avLst>
              <a:gd name="adj" fmla="val 12000"/>
            </a:avLst>
          </a:prstGeom>
          <a:solidFill>
            <a:srgbClr val="1F3864"/>
          </a:solidFill>
          <a:ln w="12700">
            <a:solidFill>
              <a:srgbClr val="1F3864"/>
            </a:solidFill>
          </a:ln>
          <a:effectLst/>
        </p:spPr>
        <p:txBody>
          <a:bodyPr rtlCol="0" anchor="ctr" wrap="square" lIns="36576" rIns="36576" tIns="27432" bIns="27432"/>
          <a:lstStyle/>
          <a:p>
            <a:pPr algn="ctr">
              <a:spcAft>
                <a:spcPts val="0"/>
              </a:spcAft>
            </a:pPr>
            <a:r>
              <a:rPr sz="950" b="1" i="0">
                <a:solidFill>
                  <a:srgbClr val="FFFFFF"/>
                </a:solidFill>
                <a:latin typeface="Arial"/>
              </a:rPr>
              <a:t>Goods-train forecast</a:t>
            </a:r>
          </a:p>
        </p:txBody>
      </p:sp>
      <p:sp>
        <p:nvSpPr>
          <p:cNvPr id="17427" name="Rounded Rectangle 17426"/>
          <p:cNvSpPr/>
          <p:nvPr/>
        </p:nvSpPr>
        <p:spPr>
          <a:xfrm>
            <a:off x="10759440" y="2121408"/>
            <a:ext cx="972311" cy="384048"/>
          </a:xfrm>
          <a:prstGeom prst="roundRect">
            <a:avLst>
              <a:gd name="adj" fmla="val 12000"/>
            </a:avLst>
          </a:prstGeom>
          <a:solidFill>
            <a:srgbClr val="1F3864"/>
          </a:solidFill>
          <a:ln w="12700">
            <a:solidFill>
              <a:srgbClr val="1F3864"/>
            </a:solidFill>
          </a:ln>
          <a:effectLst/>
        </p:spPr>
        <p:txBody>
          <a:bodyPr rtlCol="0" anchor="ctr" wrap="square" lIns="36576" rIns="36576" tIns="27432" bIns="27432"/>
          <a:lstStyle/>
          <a:p>
            <a:pPr algn="ctr">
              <a:spcAft>
                <a:spcPts val="0"/>
              </a:spcAft>
            </a:pPr>
            <a:r>
              <a:rPr sz="950" b="1" i="0">
                <a:solidFill>
                  <a:srgbClr val="FFFFFF"/>
                </a:solidFill>
                <a:latin typeface="Arial"/>
              </a:rPr>
              <a:t>Block corridors</a:t>
            </a:r>
          </a:p>
        </p:txBody>
      </p:sp>
      <p:sp>
        <p:nvSpPr>
          <p:cNvPr id="17428" name="Rounded Rectangle 17427"/>
          <p:cNvSpPr/>
          <p:nvPr/>
        </p:nvSpPr>
        <p:spPr>
          <a:xfrm>
            <a:off x="6217920" y="2542032"/>
            <a:ext cx="4873752" cy="237744"/>
          </a:xfrm>
          <a:prstGeom prst="roundRect">
            <a:avLst>
              <a:gd name="adj" fmla="val 50000"/>
            </a:avLst>
          </a:prstGeom>
          <a:solidFill>
            <a:srgbClr val="1F3864"/>
          </a:solidFill>
          <a:ln w="9525">
            <a:solidFill>
              <a:srgbClr val="1F3864"/>
            </a:solidFill>
          </a:ln>
          <a:effectLst/>
        </p:spPr>
        <p:txBody>
          <a:bodyPr rtlCol="0" anchor="ctr" wrap="square" lIns="36576" rIns="36576" tIns="27432" bIns="27432"/>
          <a:lstStyle/>
          <a:p>
            <a:pPr algn="ctr">
              <a:spcAft>
                <a:spcPts val="0"/>
              </a:spcAft>
            </a:pPr>
            <a:r>
              <a:rPr sz="900" b="1" i="0">
                <a:solidFill>
                  <a:srgbClr val="FFFFFF"/>
                </a:solidFill>
                <a:latin typeface="Arial"/>
              </a:rPr>
              <a:t>converge to ONE location model  (metres along each line, block sections, OHE sections)</a:t>
            </a:r>
          </a:p>
        </p:txBody>
      </p:sp>
      <p:cxnSp>
        <p:nvCxnSpPr>
          <p:cNvPr id="17429" name="Connector 17428"/>
          <p:cNvCxnSpPr/>
          <p:nvPr/>
        </p:nvCxnSpPr>
        <p:spPr>
          <a:xfrm>
            <a:off x="8654796" y="2523744"/>
            <a:ext cx="0" cy="18288"/>
          </a:xfrm>
          <a:prstGeom prst="line">
            <a:avLst/>
          </a:prstGeom>
          <a:ln w="22225">
            <a:solidFill>
              <a:srgbClr val="1F3864"/>
            </a:solidFill>
            <a:tailEnd type="triangle" w="med" len="med"/>
          </a:ln>
        </p:spPr>
      </p:cxnSp>
      <p:cxnSp>
        <p:nvCxnSpPr>
          <p:cNvPr id="17430" name="Connector 17429"/>
          <p:cNvCxnSpPr/>
          <p:nvPr/>
        </p:nvCxnSpPr>
        <p:spPr>
          <a:xfrm>
            <a:off x="8654796" y="2779776"/>
            <a:ext cx="0" cy="109728"/>
          </a:xfrm>
          <a:prstGeom prst="line">
            <a:avLst/>
          </a:prstGeom>
          <a:ln w="22225">
            <a:solidFill>
              <a:srgbClr val="1F3864"/>
            </a:solidFill>
            <a:tailEnd type="triangle" w="med" len="med"/>
          </a:ln>
        </p:spPr>
      </p:cxnSp>
      <p:sp>
        <p:nvSpPr>
          <p:cNvPr id="17431" name="Rounded Rectangle 17430"/>
          <p:cNvSpPr/>
          <p:nvPr/>
        </p:nvSpPr>
        <p:spPr>
          <a:xfrm>
            <a:off x="5669280" y="2907791"/>
            <a:ext cx="758952" cy="749808"/>
          </a:xfrm>
          <a:prstGeom prst="roundRect">
            <a:avLst>
              <a:gd name="adj" fmla="val 8000"/>
            </a:avLst>
          </a:prstGeom>
          <a:solidFill>
            <a:srgbClr val="FFFFFF"/>
          </a:solidFill>
          <a:ln w="15875">
            <a:solidFill>
              <a:srgbClr val="1F3864"/>
            </a:solidFill>
          </a:ln>
          <a:effectLst/>
        </p:spPr>
        <p:txBody>
          <a:bodyPr rtlCol="0" anchor="ctr" wrap="square" lIns="27432" rIns="27432" tIns="27432" bIns="27432"/>
          <a:lstStyle/>
          <a:p>
            <a:pPr algn="ctr">
              <a:spcAft>
                <a:spcPts val="200"/>
              </a:spcAft>
            </a:pPr>
            <a:r>
              <a:rPr sz="850" b="1" i="0">
                <a:solidFill>
                  <a:srgbClr val="1F3864"/>
                </a:solidFill>
                <a:latin typeface="Arial"/>
              </a:rPr>
              <a:t>1 Ingest</a:t>
            </a:r>
          </a:p>
          <a:p>
            <a:pPr algn="ctr">
              <a:spcAft>
                <a:spcPts val="0"/>
              </a:spcAft>
            </a:pPr>
            <a:r>
              <a:rPr sz="800" b="0" i="0">
                <a:solidFill>
                  <a:srgbClr val="1A1A1A"/>
                </a:solidFill>
                <a:latin typeface="Arial"/>
              </a:rPr>
              <a:t>one location model</a:t>
            </a:r>
          </a:p>
        </p:txBody>
      </p:sp>
      <p:cxnSp>
        <p:nvCxnSpPr>
          <p:cNvPr id="17432" name="Connector 17431"/>
          <p:cNvCxnSpPr/>
          <p:nvPr/>
        </p:nvCxnSpPr>
        <p:spPr>
          <a:xfrm>
            <a:off x="6428232" y="3282696"/>
            <a:ext cx="109728" cy="0"/>
          </a:xfrm>
          <a:prstGeom prst="line">
            <a:avLst/>
          </a:prstGeom>
          <a:ln w="17780">
            <a:solidFill>
              <a:srgbClr val="1F3864"/>
            </a:solidFill>
            <a:tailEnd type="triangle" w="med" len="med"/>
          </a:ln>
        </p:spPr>
      </p:cxnSp>
      <p:sp>
        <p:nvSpPr>
          <p:cNvPr id="17433" name="Rounded Rectangle 17432"/>
          <p:cNvSpPr/>
          <p:nvPr/>
        </p:nvSpPr>
        <p:spPr>
          <a:xfrm>
            <a:off x="6537960" y="2907791"/>
            <a:ext cx="758952" cy="749808"/>
          </a:xfrm>
          <a:prstGeom prst="roundRect">
            <a:avLst>
              <a:gd name="adj" fmla="val 8000"/>
            </a:avLst>
          </a:prstGeom>
          <a:solidFill>
            <a:srgbClr val="FFFFFF"/>
          </a:solidFill>
          <a:ln w="15875">
            <a:solidFill>
              <a:srgbClr val="1F3864"/>
            </a:solidFill>
          </a:ln>
          <a:effectLst/>
        </p:spPr>
        <p:txBody>
          <a:bodyPr rtlCol="0" anchor="ctr" wrap="square" lIns="27432" rIns="27432" tIns="27432" bIns="27432"/>
          <a:lstStyle/>
          <a:p>
            <a:pPr algn="ctr">
              <a:spcAft>
                <a:spcPts val="200"/>
              </a:spcAft>
            </a:pPr>
            <a:r>
              <a:rPr sz="850" b="1" i="0">
                <a:solidFill>
                  <a:srgbClr val="1F3864"/>
                </a:solidFill>
                <a:latin typeface="Arial"/>
              </a:rPr>
              <a:t>2 Prioritise</a:t>
            </a:r>
          </a:p>
          <a:p>
            <a:pPr algn="ctr">
              <a:spcAft>
                <a:spcPts val="0"/>
              </a:spcAft>
            </a:pPr>
            <a:r>
              <a:rPr sz="800" b="0" i="0">
                <a:solidFill>
                  <a:srgbClr val="1A1A1A"/>
                </a:solidFill>
                <a:latin typeface="Arial"/>
              </a:rPr>
              <a:t>rules set tiers, ML ranks</a:t>
            </a:r>
          </a:p>
        </p:txBody>
      </p:sp>
      <p:cxnSp>
        <p:nvCxnSpPr>
          <p:cNvPr id="17434" name="Connector 17433"/>
          <p:cNvCxnSpPr/>
          <p:nvPr/>
        </p:nvCxnSpPr>
        <p:spPr>
          <a:xfrm>
            <a:off x="7296912" y="3282696"/>
            <a:ext cx="109728" cy="0"/>
          </a:xfrm>
          <a:prstGeom prst="line">
            <a:avLst/>
          </a:prstGeom>
          <a:ln w="17780">
            <a:solidFill>
              <a:srgbClr val="1F3864"/>
            </a:solidFill>
            <a:tailEnd type="triangle" w="med" len="med"/>
          </a:ln>
        </p:spPr>
      </p:cxnSp>
      <p:sp>
        <p:nvSpPr>
          <p:cNvPr id="17435" name="Rounded Rectangle 17434"/>
          <p:cNvSpPr/>
          <p:nvPr/>
        </p:nvSpPr>
        <p:spPr>
          <a:xfrm>
            <a:off x="7406640" y="2907791"/>
            <a:ext cx="758952" cy="749808"/>
          </a:xfrm>
          <a:prstGeom prst="roundRect">
            <a:avLst>
              <a:gd name="adj" fmla="val 8000"/>
            </a:avLst>
          </a:prstGeom>
          <a:solidFill>
            <a:srgbClr val="FFFFFF"/>
          </a:solidFill>
          <a:ln w="15875">
            <a:solidFill>
              <a:srgbClr val="1F3864"/>
            </a:solidFill>
          </a:ln>
          <a:effectLst/>
        </p:spPr>
        <p:txBody>
          <a:bodyPr rtlCol="0" anchor="ctr" wrap="square" lIns="27432" rIns="27432" tIns="27432" bIns="27432"/>
          <a:lstStyle/>
          <a:p>
            <a:pPr algn="ctr">
              <a:spcAft>
                <a:spcPts val="200"/>
              </a:spcAft>
            </a:pPr>
            <a:r>
              <a:rPr sz="850" b="1" i="0">
                <a:solidFill>
                  <a:srgbClr val="1F3864"/>
                </a:solidFill>
                <a:latin typeface="Arial"/>
              </a:rPr>
              <a:t>3 Compose</a:t>
            </a:r>
          </a:p>
          <a:p>
            <a:pPr algn="ctr">
              <a:spcAft>
                <a:spcPts val="0"/>
              </a:spcAft>
            </a:pPr>
            <a:r>
              <a:rPr sz="800" b="0" i="0">
                <a:solidFill>
                  <a:srgbClr val="1A1A1A"/>
                </a:solidFill>
                <a:latin typeface="Arial"/>
              </a:rPr>
              <a:t>merge jobs, keep order</a:t>
            </a:r>
          </a:p>
        </p:txBody>
      </p:sp>
      <p:cxnSp>
        <p:nvCxnSpPr>
          <p:cNvPr id="17436" name="Connector 17435"/>
          <p:cNvCxnSpPr/>
          <p:nvPr/>
        </p:nvCxnSpPr>
        <p:spPr>
          <a:xfrm>
            <a:off x="8165592" y="3282696"/>
            <a:ext cx="109727" cy="0"/>
          </a:xfrm>
          <a:prstGeom prst="line">
            <a:avLst/>
          </a:prstGeom>
          <a:ln w="17780">
            <a:solidFill>
              <a:srgbClr val="1F3864"/>
            </a:solidFill>
            <a:tailEnd type="triangle" w="med" len="med"/>
          </a:ln>
        </p:spPr>
      </p:cxnSp>
      <p:sp>
        <p:nvSpPr>
          <p:cNvPr id="17437" name="Rounded Rectangle 17436"/>
          <p:cNvSpPr/>
          <p:nvPr/>
        </p:nvSpPr>
        <p:spPr>
          <a:xfrm>
            <a:off x="8275320" y="2907791"/>
            <a:ext cx="758952" cy="749808"/>
          </a:xfrm>
          <a:prstGeom prst="roundRect">
            <a:avLst>
              <a:gd name="adj" fmla="val 8000"/>
            </a:avLst>
          </a:prstGeom>
          <a:solidFill>
            <a:srgbClr val="FFFFFF"/>
          </a:solidFill>
          <a:ln w="15875">
            <a:solidFill>
              <a:srgbClr val="1F3864"/>
            </a:solidFill>
          </a:ln>
          <a:effectLst/>
        </p:spPr>
        <p:txBody>
          <a:bodyPr rtlCol="0" anchor="ctr" wrap="square" lIns="27432" rIns="27432" tIns="27432" bIns="27432"/>
          <a:lstStyle/>
          <a:p>
            <a:pPr algn="ctr">
              <a:spcAft>
                <a:spcPts val="200"/>
              </a:spcAft>
            </a:pPr>
            <a:r>
              <a:rPr sz="850" b="1" i="0">
                <a:solidFill>
                  <a:srgbClr val="1F3864"/>
                </a:solidFill>
                <a:latin typeface="Arial"/>
              </a:rPr>
              <a:t>4 Plan</a:t>
            </a:r>
          </a:p>
          <a:p>
            <a:pPr algn="ctr">
              <a:spcAft>
                <a:spcPts val="0"/>
              </a:spcAft>
            </a:pPr>
            <a:r>
              <a:rPr sz="800" b="0" i="0">
                <a:solidFill>
                  <a:srgbClr val="1A1A1A"/>
                </a:solidFill>
                <a:latin typeface="Arial"/>
              </a:rPr>
              <a:t>CP-SAT, weekly + monthly</a:t>
            </a:r>
          </a:p>
        </p:txBody>
      </p:sp>
      <p:cxnSp>
        <p:nvCxnSpPr>
          <p:cNvPr id="17438" name="Connector 17437"/>
          <p:cNvCxnSpPr/>
          <p:nvPr/>
        </p:nvCxnSpPr>
        <p:spPr>
          <a:xfrm>
            <a:off x="9034272" y="3282696"/>
            <a:ext cx="109728" cy="0"/>
          </a:xfrm>
          <a:prstGeom prst="line">
            <a:avLst/>
          </a:prstGeom>
          <a:ln w="17780">
            <a:solidFill>
              <a:srgbClr val="1F3864"/>
            </a:solidFill>
            <a:tailEnd type="triangle" w="med" len="med"/>
          </a:ln>
        </p:spPr>
      </p:cxnSp>
      <p:sp>
        <p:nvSpPr>
          <p:cNvPr id="17439" name="Rounded Rectangle 17438"/>
          <p:cNvSpPr/>
          <p:nvPr/>
        </p:nvSpPr>
        <p:spPr>
          <a:xfrm>
            <a:off x="9144000" y="2907791"/>
            <a:ext cx="758952" cy="749808"/>
          </a:xfrm>
          <a:prstGeom prst="roundRect">
            <a:avLst>
              <a:gd name="adj" fmla="val 8000"/>
            </a:avLst>
          </a:prstGeom>
          <a:solidFill>
            <a:srgbClr val="FFFFFF"/>
          </a:solidFill>
          <a:ln w="15875">
            <a:solidFill>
              <a:srgbClr val="1F3864"/>
            </a:solidFill>
          </a:ln>
          <a:effectLst/>
        </p:spPr>
        <p:txBody>
          <a:bodyPr rtlCol="0" anchor="ctr" wrap="square" lIns="27432" rIns="27432" tIns="27432" bIns="27432"/>
          <a:lstStyle/>
          <a:p>
            <a:pPr algn="ctr">
              <a:spcAft>
                <a:spcPts val="200"/>
              </a:spcAft>
            </a:pPr>
            <a:r>
              <a:rPr sz="850" b="1" i="0">
                <a:solidFill>
                  <a:srgbClr val="1F3864"/>
                </a:solidFill>
                <a:latin typeface="Arial"/>
              </a:rPr>
              <a:t>5 Validate</a:t>
            </a:r>
          </a:p>
          <a:p>
            <a:pPr algn="ctr">
              <a:spcAft>
                <a:spcPts val="0"/>
              </a:spcAft>
            </a:pPr>
            <a:r>
              <a:rPr sz="800" b="0" i="0">
                <a:solidFill>
                  <a:srgbClr val="1A1A1A"/>
                </a:solidFill>
                <a:latin typeface="Arial"/>
              </a:rPr>
              <a:t>safety + timetable checks</a:t>
            </a:r>
          </a:p>
        </p:txBody>
      </p:sp>
      <p:cxnSp>
        <p:nvCxnSpPr>
          <p:cNvPr id="17440" name="Connector 17439"/>
          <p:cNvCxnSpPr/>
          <p:nvPr/>
        </p:nvCxnSpPr>
        <p:spPr>
          <a:xfrm>
            <a:off x="9902952" y="3282696"/>
            <a:ext cx="109728" cy="0"/>
          </a:xfrm>
          <a:prstGeom prst="line">
            <a:avLst/>
          </a:prstGeom>
          <a:ln w="17780">
            <a:solidFill>
              <a:srgbClr val="1F3864"/>
            </a:solidFill>
            <a:tailEnd type="triangle" w="med" len="med"/>
          </a:ln>
        </p:spPr>
      </p:cxnSp>
      <p:sp>
        <p:nvSpPr>
          <p:cNvPr id="17441" name="Rounded Rectangle 17440"/>
          <p:cNvSpPr/>
          <p:nvPr/>
        </p:nvSpPr>
        <p:spPr>
          <a:xfrm>
            <a:off x="10012680" y="2907791"/>
            <a:ext cx="758952" cy="749808"/>
          </a:xfrm>
          <a:prstGeom prst="roundRect">
            <a:avLst>
              <a:gd name="adj" fmla="val 8000"/>
            </a:avLst>
          </a:prstGeom>
          <a:solidFill>
            <a:srgbClr val="FFF3E0"/>
          </a:solidFill>
          <a:ln w="15875">
            <a:solidFill>
              <a:srgbClr val="9A4A00"/>
            </a:solidFill>
          </a:ln>
          <a:effectLst/>
        </p:spPr>
        <p:txBody>
          <a:bodyPr rtlCol="0" anchor="ctr" wrap="square" lIns="27432" rIns="27432" tIns="27432" bIns="27432"/>
          <a:lstStyle/>
          <a:p>
            <a:pPr algn="ctr">
              <a:spcAft>
                <a:spcPts val="200"/>
              </a:spcAft>
            </a:pPr>
            <a:r>
              <a:rPr sz="850" b="1" i="0">
                <a:solidFill>
                  <a:srgbClr val="9A4A00"/>
                </a:solidFill>
                <a:latin typeface="Arial"/>
              </a:rPr>
              <a:t>6 Decide</a:t>
            </a:r>
          </a:p>
          <a:p>
            <a:pPr algn="ctr">
              <a:spcAft>
                <a:spcPts val="0"/>
              </a:spcAft>
            </a:pPr>
            <a:r>
              <a:rPr sz="800" b="0" i="0">
                <a:solidFill>
                  <a:srgbClr val="1A1A1A"/>
                </a:solidFill>
                <a:latin typeface="Arial"/>
              </a:rPr>
              <a:t>human approves</a:t>
            </a:r>
          </a:p>
        </p:txBody>
      </p:sp>
      <p:cxnSp>
        <p:nvCxnSpPr>
          <p:cNvPr id="17442" name="Connector 17441"/>
          <p:cNvCxnSpPr/>
          <p:nvPr/>
        </p:nvCxnSpPr>
        <p:spPr>
          <a:xfrm>
            <a:off x="10771632" y="3282696"/>
            <a:ext cx="109727" cy="0"/>
          </a:xfrm>
          <a:prstGeom prst="line">
            <a:avLst/>
          </a:prstGeom>
          <a:ln w="17780">
            <a:solidFill>
              <a:srgbClr val="1F3864"/>
            </a:solidFill>
            <a:tailEnd type="triangle" w="med" len="med"/>
          </a:ln>
        </p:spPr>
      </p:cxnSp>
      <p:sp>
        <p:nvSpPr>
          <p:cNvPr id="17443" name="Rounded Rectangle 17442"/>
          <p:cNvSpPr/>
          <p:nvPr/>
        </p:nvSpPr>
        <p:spPr>
          <a:xfrm>
            <a:off x="10881359" y="2907791"/>
            <a:ext cx="758952" cy="749808"/>
          </a:xfrm>
          <a:prstGeom prst="roundRect">
            <a:avLst>
              <a:gd name="adj" fmla="val 8000"/>
            </a:avLst>
          </a:prstGeom>
          <a:solidFill>
            <a:srgbClr val="E9EDF2"/>
          </a:solidFill>
          <a:ln w="15875">
            <a:solidFill>
              <a:srgbClr val="1F3864"/>
            </a:solidFill>
          </a:ln>
          <a:effectLst/>
        </p:spPr>
        <p:txBody>
          <a:bodyPr rtlCol="0" anchor="ctr" wrap="square" lIns="27432" rIns="27432" tIns="27432" bIns="27432"/>
          <a:lstStyle/>
          <a:p>
            <a:pPr algn="ctr">
              <a:spcAft>
                <a:spcPts val="200"/>
              </a:spcAft>
            </a:pPr>
            <a:r>
              <a:rPr sz="850" b="1" i="0">
                <a:solidFill>
                  <a:srgbClr val="1F3864"/>
                </a:solidFill>
                <a:latin typeface="Arial"/>
              </a:rPr>
              <a:t>7 Export</a:t>
            </a:r>
          </a:p>
          <a:p>
            <a:pPr algn="ctr">
              <a:spcAft>
                <a:spcPts val="0"/>
              </a:spcAft>
            </a:pPr>
            <a:r>
              <a:rPr sz="800" b="0" i="0">
                <a:solidFill>
                  <a:srgbClr val="1A1A1A"/>
                </a:solidFill>
                <a:latin typeface="Arial"/>
              </a:rPr>
              <a:t>BDMS-style block demand + audit log</a:t>
            </a:r>
          </a:p>
        </p:txBody>
      </p:sp>
      <p:sp>
        <p:nvSpPr>
          <p:cNvPr id="17444" name="TextBox 17443"/>
          <p:cNvSpPr txBox="1"/>
          <p:nvPr/>
        </p:nvSpPr>
        <p:spPr>
          <a:xfrm>
            <a:off x="5577840" y="3767327"/>
            <a:ext cx="2926080" cy="201168"/>
          </a:xfrm>
          <a:prstGeom prst="rect">
            <a:avLst/>
          </a:prstGeom>
          <a:noFill/>
        </p:spPr>
        <p:txBody>
          <a:bodyPr wrap="square" lIns="0" tIns="0" rIns="0" bIns="0" anchor="t"/>
          <a:lstStyle/>
          <a:p>
            <a:pPr algn="l" marL="0" indent="0">
              <a:buNone/>
            </a:pPr>
            <a:r>
              <a:rPr sz="950" b="1" i="0">
                <a:solidFill>
                  <a:srgbClr val="1F3864"/>
                </a:solidFill>
                <a:latin typeface="Arial"/>
              </a:rPr>
              <a:t>Monthly plan: </a:t>
            </a:r>
            <a:r>
              <a:rPr sz="950" b="0" i="0">
                <a:solidFill>
                  <a:srgbClr val="1A1A1A"/>
                </a:solidFill>
                <a:latin typeface="Arial"/>
              </a:rPr>
              <a:t>day-level corridor reservations</a:t>
            </a:r>
          </a:p>
        </p:txBody>
      </p:sp>
      <p:sp>
        <p:nvSpPr>
          <p:cNvPr id="17445" name="Rectangle 17444"/>
          <p:cNvSpPr/>
          <p:nvPr/>
        </p:nvSpPr>
        <p:spPr>
          <a:xfrm>
            <a:off x="5596128" y="3986783"/>
            <a:ext cx="100584" cy="73152"/>
          </a:xfrm>
          <a:prstGeom prst="rect">
            <a:avLst/>
          </a:prstGeom>
          <a:solidFill>
            <a:srgbClr val="D5DEEA"/>
          </a:solidFill>
          <a:ln>
            <a:noFill/>
          </a:ln>
          <a:effectLst/>
        </p:spPr>
        <p:txBody>
          <a:bodyPr rtlCol="0" anchor="ctr"/>
          <a:lstStyle/>
          <a:p/>
        </p:txBody>
      </p:sp>
      <p:sp>
        <p:nvSpPr>
          <p:cNvPr id="17446" name="Rectangle 17445"/>
          <p:cNvSpPr/>
          <p:nvPr/>
        </p:nvSpPr>
        <p:spPr>
          <a:xfrm>
            <a:off x="5715000" y="3986783"/>
            <a:ext cx="100584" cy="73152"/>
          </a:xfrm>
          <a:prstGeom prst="rect">
            <a:avLst/>
          </a:prstGeom>
          <a:solidFill>
            <a:srgbClr val="1F3864"/>
          </a:solidFill>
          <a:ln>
            <a:noFill/>
          </a:ln>
          <a:effectLst/>
        </p:spPr>
        <p:txBody>
          <a:bodyPr rtlCol="0" anchor="ctr"/>
          <a:lstStyle/>
          <a:p/>
        </p:txBody>
      </p:sp>
      <p:sp>
        <p:nvSpPr>
          <p:cNvPr id="17447" name="Rectangle 17446"/>
          <p:cNvSpPr/>
          <p:nvPr/>
        </p:nvSpPr>
        <p:spPr>
          <a:xfrm>
            <a:off x="5833872" y="3986783"/>
            <a:ext cx="100584" cy="73152"/>
          </a:xfrm>
          <a:prstGeom prst="rect">
            <a:avLst/>
          </a:prstGeom>
          <a:solidFill>
            <a:srgbClr val="D5DEEA"/>
          </a:solidFill>
          <a:ln>
            <a:noFill/>
          </a:ln>
          <a:effectLst/>
        </p:spPr>
        <p:txBody>
          <a:bodyPr rtlCol="0" anchor="ctr"/>
          <a:lstStyle/>
          <a:p/>
        </p:txBody>
      </p:sp>
      <p:sp>
        <p:nvSpPr>
          <p:cNvPr id="17448" name="Rectangle 17447"/>
          <p:cNvSpPr/>
          <p:nvPr/>
        </p:nvSpPr>
        <p:spPr>
          <a:xfrm>
            <a:off x="5952744" y="3986783"/>
            <a:ext cx="100584" cy="73152"/>
          </a:xfrm>
          <a:prstGeom prst="rect">
            <a:avLst/>
          </a:prstGeom>
          <a:solidFill>
            <a:srgbClr val="D5DEEA"/>
          </a:solidFill>
          <a:ln>
            <a:noFill/>
          </a:ln>
          <a:effectLst/>
        </p:spPr>
        <p:txBody>
          <a:bodyPr rtlCol="0" anchor="ctr"/>
          <a:lstStyle/>
          <a:p/>
        </p:txBody>
      </p:sp>
      <p:sp>
        <p:nvSpPr>
          <p:cNvPr id="17449" name="Rectangle 17448"/>
          <p:cNvSpPr/>
          <p:nvPr/>
        </p:nvSpPr>
        <p:spPr>
          <a:xfrm>
            <a:off x="6071616" y="3986783"/>
            <a:ext cx="100584" cy="73152"/>
          </a:xfrm>
          <a:prstGeom prst="rect">
            <a:avLst/>
          </a:prstGeom>
          <a:solidFill>
            <a:srgbClr val="1F3864"/>
          </a:solidFill>
          <a:ln>
            <a:noFill/>
          </a:ln>
          <a:effectLst/>
        </p:spPr>
        <p:txBody>
          <a:bodyPr rtlCol="0" anchor="ctr"/>
          <a:lstStyle/>
          <a:p/>
        </p:txBody>
      </p:sp>
      <p:sp>
        <p:nvSpPr>
          <p:cNvPr id="17450" name="Rectangle 17449"/>
          <p:cNvSpPr/>
          <p:nvPr/>
        </p:nvSpPr>
        <p:spPr>
          <a:xfrm>
            <a:off x="6190488" y="3986783"/>
            <a:ext cx="100584" cy="73152"/>
          </a:xfrm>
          <a:prstGeom prst="rect">
            <a:avLst/>
          </a:prstGeom>
          <a:solidFill>
            <a:srgbClr val="D5DEEA"/>
          </a:solidFill>
          <a:ln>
            <a:noFill/>
          </a:ln>
          <a:effectLst/>
        </p:spPr>
        <p:txBody>
          <a:bodyPr rtlCol="0" anchor="ctr"/>
          <a:lstStyle/>
          <a:p/>
        </p:txBody>
      </p:sp>
      <p:sp>
        <p:nvSpPr>
          <p:cNvPr id="17451" name="Rectangle 17450"/>
          <p:cNvSpPr/>
          <p:nvPr/>
        </p:nvSpPr>
        <p:spPr>
          <a:xfrm>
            <a:off x="6309360" y="3986783"/>
            <a:ext cx="100584" cy="73152"/>
          </a:xfrm>
          <a:prstGeom prst="rect">
            <a:avLst/>
          </a:prstGeom>
          <a:solidFill>
            <a:srgbClr val="D5DEEA"/>
          </a:solidFill>
          <a:ln>
            <a:noFill/>
          </a:ln>
          <a:effectLst/>
        </p:spPr>
        <p:txBody>
          <a:bodyPr rtlCol="0" anchor="ctr"/>
          <a:lstStyle/>
          <a:p/>
        </p:txBody>
      </p:sp>
      <p:sp>
        <p:nvSpPr>
          <p:cNvPr id="17452" name="Rectangle 17451"/>
          <p:cNvSpPr/>
          <p:nvPr/>
        </p:nvSpPr>
        <p:spPr>
          <a:xfrm>
            <a:off x="5596128" y="4078223"/>
            <a:ext cx="100584" cy="73152"/>
          </a:xfrm>
          <a:prstGeom prst="rect">
            <a:avLst/>
          </a:prstGeom>
          <a:solidFill>
            <a:srgbClr val="D5DEEA"/>
          </a:solidFill>
          <a:ln>
            <a:noFill/>
          </a:ln>
          <a:effectLst/>
        </p:spPr>
        <p:txBody>
          <a:bodyPr rtlCol="0" anchor="ctr"/>
          <a:lstStyle/>
          <a:p/>
        </p:txBody>
      </p:sp>
      <p:sp>
        <p:nvSpPr>
          <p:cNvPr id="17453" name="Rectangle 17452"/>
          <p:cNvSpPr/>
          <p:nvPr/>
        </p:nvSpPr>
        <p:spPr>
          <a:xfrm>
            <a:off x="5715000" y="4078223"/>
            <a:ext cx="100584" cy="73152"/>
          </a:xfrm>
          <a:prstGeom prst="rect">
            <a:avLst/>
          </a:prstGeom>
          <a:solidFill>
            <a:srgbClr val="D5DEEA"/>
          </a:solidFill>
          <a:ln>
            <a:noFill/>
          </a:ln>
          <a:effectLst/>
        </p:spPr>
        <p:txBody>
          <a:bodyPr rtlCol="0" anchor="ctr"/>
          <a:lstStyle/>
          <a:p/>
        </p:txBody>
      </p:sp>
      <p:sp>
        <p:nvSpPr>
          <p:cNvPr id="17454" name="Rectangle 17453"/>
          <p:cNvSpPr/>
          <p:nvPr/>
        </p:nvSpPr>
        <p:spPr>
          <a:xfrm>
            <a:off x="5833872" y="4078223"/>
            <a:ext cx="100584" cy="73152"/>
          </a:xfrm>
          <a:prstGeom prst="rect">
            <a:avLst/>
          </a:prstGeom>
          <a:solidFill>
            <a:srgbClr val="1F3864"/>
          </a:solidFill>
          <a:ln>
            <a:noFill/>
          </a:ln>
          <a:effectLst/>
        </p:spPr>
        <p:txBody>
          <a:bodyPr rtlCol="0" anchor="ctr"/>
          <a:lstStyle/>
          <a:p/>
        </p:txBody>
      </p:sp>
      <p:sp>
        <p:nvSpPr>
          <p:cNvPr id="17455" name="Rectangle 17454"/>
          <p:cNvSpPr/>
          <p:nvPr/>
        </p:nvSpPr>
        <p:spPr>
          <a:xfrm>
            <a:off x="5952744" y="4078223"/>
            <a:ext cx="100584" cy="73152"/>
          </a:xfrm>
          <a:prstGeom prst="rect">
            <a:avLst/>
          </a:prstGeom>
          <a:solidFill>
            <a:srgbClr val="D5DEEA"/>
          </a:solidFill>
          <a:ln>
            <a:noFill/>
          </a:ln>
          <a:effectLst/>
        </p:spPr>
        <p:txBody>
          <a:bodyPr rtlCol="0" anchor="ctr"/>
          <a:lstStyle/>
          <a:p/>
        </p:txBody>
      </p:sp>
      <p:sp>
        <p:nvSpPr>
          <p:cNvPr id="17456" name="Rectangle 17455"/>
          <p:cNvSpPr/>
          <p:nvPr/>
        </p:nvSpPr>
        <p:spPr>
          <a:xfrm>
            <a:off x="6071616" y="4078223"/>
            <a:ext cx="100584" cy="73152"/>
          </a:xfrm>
          <a:prstGeom prst="rect">
            <a:avLst/>
          </a:prstGeom>
          <a:solidFill>
            <a:srgbClr val="D5DEEA"/>
          </a:solidFill>
          <a:ln>
            <a:noFill/>
          </a:ln>
          <a:effectLst/>
        </p:spPr>
        <p:txBody>
          <a:bodyPr rtlCol="0" anchor="ctr"/>
          <a:lstStyle/>
          <a:p/>
        </p:txBody>
      </p:sp>
      <p:sp>
        <p:nvSpPr>
          <p:cNvPr id="17457" name="Rectangle 17456"/>
          <p:cNvSpPr/>
          <p:nvPr/>
        </p:nvSpPr>
        <p:spPr>
          <a:xfrm>
            <a:off x="6190488" y="4078223"/>
            <a:ext cx="100584" cy="73152"/>
          </a:xfrm>
          <a:prstGeom prst="rect">
            <a:avLst/>
          </a:prstGeom>
          <a:solidFill>
            <a:srgbClr val="1F3864"/>
          </a:solidFill>
          <a:ln>
            <a:noFill/>
          </a:ln>
          <a:effectLst/>
        </p:spPr>
        <p:txBody>
          <a:bodyPr rtlCol="0" anchor="ctr"/>
          <a:lstStyle/>
          <a:p/>
        </p:txBody>
      </p:sp>
      <p:sp>
        <p:nvSpPr>
          <p:cNvPr id="17458" name="Rectangle 17457"/>
          <p:cNvSpPr/>
          <p:nvPr/>
        </p:nvSpPr>
        <p:spPr>
          <a:xfrm>
            <a:off x="6309360" y="4078223"/>
            <a:ext cx="100584" cy="73152"/>
          </a:xfrm>
          <a:prstGeom prst="rect">
            <a:avLst/>
          </a:prstGeom>
          <a:solidFill>
            <a:srgbClr val="D5DEEA"/>
          </a:solidFill>
          <a:ln>
            <a:noFill/>
          </a:ln>
          <a:effectLst/>
        </p:spPr>
        <p:txBody>
          <a:bodyPr rtlCol="0" anchor="ctr"/>
          <a:lstStyle/>
          <a:p/>
        </p:txBody>
      </p:sp>
      <p:sp>
        <p:nvSpPr>
          <p:cNvPr id="17459" name="Rectangle 17458"/>
          <p:cNvSpPr/>
          <p:nvPr/>
        </p:nvSpPr>
        <p:spPr>
          <a:xfrm>
            <a:off x="5596128" y="4169663"/>
            <a:ext cx="100584" cy="73152"/>
          </a:xfrm>
          <a:prstGeom prst="rect">
            <a:avLst/>
          </a:prstGeom>
          <a:solidFill>
            <a:srgbClr val="1F3864"/>
          </a:solidFill>
          <a:ln>
            <a:noFill/>
          </a:ln>
          <a:effectLst/>
        </p:spPr>
        <p:txBody>
          <a:bodyPr rtlCol="0" anchor="ctr"/>
          <a:lstStyle/>
          <a:p/>
        </p:txBody>
      </p:sp>
      <p:sp>
        <p:nvSpPr>
          <p:cNvPr id="17460" name="Rectangle 17459"/>
          <p:cNvSpPr/>
          <p:nvPr/>
        </p:nvSpPr>
        <p:spPr>
          <a:xfrm>
            <a:off x="5715000" y="4169663"/>
            <a:ext cx="100584" cy="73152"/>
          </a:xfrm>
          <a:prstGeom prst="rect">
            <a:avLst/>
          </a:prstGeom>
          <a:solidFill>
            <a:srgbClr val="D5DEEA"/>
          </a:solidFill>
          <a:ln>
            <a:noFill/>
          </a:ln>
          <a:effectLst/>
        </p:spPr>
        <p:txBody>
          <a:bodyPr rtlCol="0" anchor="ctr"/>
          <a:lstStyle/>
          <a:p/>
        </p:txBody>
      </p:sp>
      <p:sp>
        <p:nvSpPr>
          <p:cNvPr id="17461" name="Rectangle 17460"/>
          <p:cNvSpPr/>
          <p:nvPr/>
        </p:nvSpPr>
        <p:spPr>
          <a:xfrm>
            <a:off x="5833872" y="4169663"/>
            <a:ext cx="100584" cy="73152"/>
          </a:xfrm>
          <a:prstGeom prst="rect">
            <a:avLst/>
          </a:prstGeom>
          <a:solidFill>
            <a:srgbClr val="D5DEEA"/>
          </a:solidFill>
          <a:ln>
            <a:noFill/>
          </a:ln>
          <a:effectLst/>
        </p:spPr>
        <p:txBody>
          <a:bodyPr rtlCol="0" anchor="ctr"/>
          <a:lstStyle/>
          <a:p/>
        </p:txBody>
      </p:sp>
      <p:sp>
        <p:nvSpPr>
          <p:cNvPr id="17462" name="Rectangle 17461"/>
          <p:cNvSpPr/>
          <p:nvPr/>
        </p:nvSpPr>
        <p:spPr>
          <a:xfrm>
            <a:off x="5952744" y="4169663"/>
            <a:ext cx="100584" cy="73152"/>
          </a:xfrm>
          <a:prstGeom prst="rect">
            <a:avLst/>
          </a:prstGeom>
          <a:solidFill>
            <a:srgbClr val="1F3864"/>
          </a:solidFill>
          <a:ln>
            <a:noFill/>
          </a:ln>
          <a:effectLst/>
        </p:spPr>
        <p:txBody>
          <a:bodyPr rtlCol="0" anchor="ctr"/>
          <a:lstStyle/>
          <a:p/>
        </p:txBody>
      </p:sp>
      <p:sp>
        <p:nvSpPr>
          <p:cNvPr id="17463" name="Rectangle 17462"/>
          <p:cNvSpPr/>
          <p:nvPr/>
        </p:nvSpPr>
        <p:spPr>
          <a:xfrm>
            <a:off x="6071616" y="4169663"/>
            <a:ext cx="100584" cy="73152"/>
          </a:xfrm>
          <a:prstGeom prst="rect">
            <a:avLst/>
          </a:prstGeom>
          <a:solidFill>
            <a:srgbClr val="D5DEEA"/>
          </a:solidFill>
          <a:ln>
            <a:noFill/>
          </a:ln>
          <a:effectLst/>
        </p:spPr>
        <p:txBody>
          <a:bodyPr rtlCol="0" anchor="ctr"/>
          <a:lstStyle/>
          <a:p/>
        </p:txBody>
      </p:sp>
      <p:sp>
        <p:nvSpPr>
          <p:cNvPr id="17464" name="Rectangle 17463"/>
          <p:cNvSpPr/>
          <p:nvPr/>
        </p:nvSpPr>
        <p:spPr>
          <a:xfrm>
            <a:off x="6190488" y="4169663"/>
            <a:ext cx="100584" cy="73152"/>
          </a:xfrm>
          <a:prstGeom prst="rect">
            <a:avLst/>
          </a:prstGeom>
          <a:solidFill>
            <a:srgbClr val="D5DEEA"/>
          </a:solidFill>
          <a:ln>
            <a:noFill/>
          </a:ln>
          <a:effectLst/>
        </p:spPr>
        <p:txBody>
          <a:bodyPr rtlCol="0" anchor="ctr"/>
          <a:lstStyle/>
          <a:p/>
        </p:txBody>
      </p:sp>
      <p:sp>
        <p:nvSpPr>
          <p:cNvPr id="17465" name="Rectangle 17464"/>
          <p:cNvSpPr/>
          <p:nvPr/>
        </p:nvSpPr>
        <p:spPr>
          <a:xfrm>
            <a:off x="6309360" y="4169663"/>
            <a:ext cx="100584" cy="73152"/>
          </a:xfrm>
          <a:prstGeom prst="rect">
            <a:avLst/>
          </a:prstGeom>
          <a:solidFill>
            <a:srgbClr val="D5DEEA"/>
          </a:solidFill>
          <a:ln>
            <a:noFill/>
          </a:ln>
          <a:effectLst/>
        </p:spPr>
        <p:txBody>
          <a:bodyPr rtlCol="0" anchor="ctr"/>
          <a:lstStyle/>
          <a:p/>
        </p:txBody>
      </p:sp>
      <p:sp>
        <p:nvSpPr>
          <p:cNvPr id="17466" name="Rectangle 17465"/>
          <p:cNvSpPr/>
          <p:nvPr/>
        </p:nvSpPr>
        <p:spPr>
          <a:xfrm>
            <a:off x="5596128" y="4261103"/>
            <a:ext cx="100584" cy="73152"/>
          </a:xfrm>
          <a:prstGeom prst="rect">
            <a:avLst/>
          </a:prstGeom>
          <a:solidFill>
            <a:srgbClr val="D5DEEA"/>
          </a:solidFill>
          <a:ln>
            <a:noFill/>
          </a:ln>
          <a:effectLst/>
        </p:spPr>
        <p:txBody>
          <a:bodyPr rtlCol="0" anchor="ctr"/>
          <a:lstStyle/>
          <a:p/>
        </p:txBody>
      </p:sp>
      <p:sp>
        <p:nvSpPr>
          <p:cNvPr id="17467" name="Rectangle 17466"/>
          <p:cNvSpPr/>
          <p:nvPr/>
        </p:nvSpPr>
        <p:spPr>
          <a:xfrm>
            <a:off x="5715000" y="4261103"/>
            <a:ext cx="100584" cy="73152"/>
          </a:xfrm>
          <a:prstGeom prst="rect">
            <a:avLst/>
          </a:prstGeom>
          <a:solidFill>
            <a:srgbClr val="1F3864"/>
          </a:solidFill>
          <a:ln>
            <a:noFill/>
          </a:ln>
          <a:effectLst/>
        </p:spPr>
        <p:txBody>
          <a:bodyPr rtlCol="0" anchor="ctr"/>
          <a:lstStyle/>
          <a:p/>
        </p:txBody>
      </p:sp>
      <p:sp>
        <p:nvSpPr>
          <p:cNvPr id="17468" name="Rectangle 17467"/>
          <p:cNvSpPr/>
          <p:nvPr/>
        </p:nvSpPr>
        <p:spPr>
          <a:xfrm>
            <a:off x="5833872" y="4261103"/>
            <a:ext cx="100584" cy="73152"/>
          </a:xfrm>
          <a:prstGeom prst="rect">
            <a:avLst/>
          </a:prstGeom>
          <a:solidFill>
            <a:srgbClr val="D5DEEA"/>
          </a:solidFill>
          <a:ln>
            <a:noFill/>
          </a:ln>
          <a:effectLst/>
        </p:spPr>
        <p:txBody>
          <a:bodyPr rtlCol="0" anchor="ctr"/>
          <a:lstStyle/>
          <a:p/>
        </p:txBody>
      </p:sp>
      <p:sp>
        <p:nvSpPr>
          <p:cNvPr id="17469" name="Rectangle 17468"/>
          <p:cNvSpPr/>
          <p:nvPr/>
        </p:nvSpPr>
        <p:spPr>
          <a:xfrm>
            <a:off x="5952744" y="4261103"/>
            <a:ext cx="100584" cy="73152"/>
          </a:xfrm>
          <a:prstGeom prst="rect">
            <a:avLst/>
          </a:prstGeom>
          <a:solidFill>
            <a:srgbClr val="D5DEEA"/>
          </a:solidFill>
          <a:ln>
            <a:noFill/>
          </a:ln>
          <a:effectLst/>
        </p:spPr>
        <p:txBody>
          <a:bodyPr rtlCol="0" anchor="ctr"/>
          <a:lstStyle/>
          <a:p/>
        </p:txBody>
      </p:sp>
      <p:sp>
        <p:nvSpPr>
          <p:cNvPr id="17470" name="Rectangle 17469"/>
          <p:cNvSpPr/>
          <p:nvPr/>
        </p:nvSpPr>
        <p:spPr>
          <a:xfrm>
            <a:off x="6071616" y="4261103"/>
            <a:ext cx="100584" cy="73152"/>
          </a:xfrm>
          <a:prstGeom prst="rect">
            <a:avLst/>
          </a:prstGeom>
          <a:solidFill>
            <a:srgbClr val="1F3864"/>
          </a:solidFill>
          <a:ln>
            <a:noFill/>
          </a:ln>
          <a:effectLst/>
        </p:spPr>
        <p:txBody>
          <a:bodyPr rtlCol="0" anchor="ctr"/>
          <a:lstStyle/>
          <a:p/>
        </p:txBody>
      </p:sp>
      <p:sp>
        <p:nvSpPr>
          <p:cNvPr id="17471" name="Rectangle 17470"/>
          <p:cNvSpPr/>
          <p:nvPr/>
        </p:nvSpPr>
        <p:spPr>
          <a:xfrm>
            <a:off x="6190488" y="4261103"/>
            <a:ext cx="100584" cy="73152"/>
          </a:xfrm>
          <a:prstGeom prst="rect">
            <a:avLst/>
          </a:prstGeom>
          <a:solidFill>
            <a:srgbClr val="D5DEEA"/>
          </a:solidFill>
          <a:ln>
            <a:noFill/>
          </a:ln>
          <a:effectLst/>
        </p:spPr>
        <p:txBody>
          <a:bodyPr rtlCol="0" anchor="ctr"/>
          <a:lstStyle/>
          <a:p/>
        </p:txBody>
      </p:sp>
      <p:sp>
        <p:nvSpPr>
          <p:cNvPr id="17472" name="Rectangle 17471"/>
          <p:cNvSpPr/>
          <p:nvPr/>
        </p:nvSpPr>
        <p:spPr>
          <a:xfrm>
            <a:off x="6309360" y="4261103"/>
            <a:ext cx="100584" cy="73152"/>
          </a:xfrm>
          <a:prstGeom prst="rect">
            <a:avLst/>
          </a:prstGeom>
          <a:solidFill>
            <a:srgbClr val="1F3864"/>
          </a:solidFill>
          <a:ln>
            <a:noFill/>
          </a:ln>
          <a:effectLst/>
        </p:spPr>
        <p:txBody>
          <a:bodyPr rtlCol="0" anchor="ctr"/>
          <a:lstStyle/>
          <a:p/>
        </p:txBody>
      </p:sp>
      <p:sp>
        <p:nvSpPr>
          <p:cNvPr id="17473" name="TextBox 17472"/>
          <p:cNvSpPr txBox="1"/>
          <p:nvPr/>
        </p:nvSpPr>
        <p:spPr>
          <a:xfrm>
            <a:off x="6464808" y="3977639"/>
            <a:ext cx="1920240" cy="384048"/>
          </a:xfrm>
          <a:prstGeom prst="rect">
            <a:avLst/>
          </a:prstGeom>
          <a:noFill/>
        </p:spPr>
        <p:txBody>
          <a:bodyPr wrap="square" lIns="18288" tIns="0" rIns="0" bIns="0" anchor="t"/>
          <a:lstStyle/>
          <a:p>
            <a:pPr algn="l" marL="0" indent="0">
              <a:buNone/>
            </a:pPr>
            <a:r>
              <a:rPr sz="850" b="0" i="1">
                <a:solidFill>
                  <a:srgbClr val="595959"/>
                </a:solidFill>
                <a:latin typeface="Arial"/>
              </a:rPr>
              <a:t>Illustrative: 4 weeks × 7 days; dark = reserved corridor day</a:t>
            </a:r>
          </a:p>
        </p:txBody>
      </p:sp>
      <p:sp>
        <p:nvSpPr>
          <p:cNvPr id="17474" name="TextBox 17473"/>
          <p:cNvSpPr txBox="1"/>
          <p:nvPr/>
        </p:nvSpPr>
        <p:spPr>
          <a:xfrm>
            <a:off x="8686800" y="3767327"/>
            <a:ext cx="3108960" cy="201168"/>
          </a:xfrm>
          <a:prstGeom prst="rect">
            <a:avLst/>
          </a:prstGeom>
          <a:noFill/>
        </p:spPr>
        <p:txBody>
          <a:bodyPr wrap="square" lIns="0" tIns="0" rIns="0" bIns="0" anchor="t"/>
          <a:lstStyle/>
          <a:p>
            <a:pPr algn="l" marL="0" indent="0">
              <a:buNone/>
            </a:pPr>
            <a:r>
              <a:rPr sz="950" b="1" i="0">
                <a:solidFill>
                  <a:srgbClr val="1F3864"/>
                </a:solidFill>
                <a:latin typeface="Arial"/>
              </a:rPr>
              <a:t>Weekly plan: </a:t>
            </a:r>
            <a:r>
              <a:rPr sz="950" b="0" i="0">
                <a:solidFill>
                  <a:srgbClr val="1A1A1A"/>
                </a:solidFill>
                <a:latin typeface="Arial"/>
              </a:rPr>
              <a:t>5-minute slots</a:t>
            </a:r>
          </a:p>
        </p:txBody>
      </p:sp>
      <p:sp>
        <p:nvSpPr>
          <p:cNvPr id="17475" name="TextBox 17474"/>
          <p:cNvSpPr txBox="1"/>
          <p:nvPr/>
        </p:nvSpPr>
        <p:spPr>
          <a:xfrm>
            <a:off x="8686800" y="3968495"/>
            <a:ext cx="3108960" cy="457200"/>
          </a:xfrm>
          <a:prstGeom prst="rect">
            <a:avLst/>
          </a:prstGeom>
          <a:noFill/>
        </p:spPr>
        <p:txBody>
          <a:bodyPr wrap="square" lIns="0" tIns="0" rIns="0" bIns="0" anchor="t"/>
          <a:lstStyle/>
          <a:p>
            <a:pPr algn="l" marL="0" indent="0">
              <a:buNone/>
            </a:pPr>
            <a:r>
              <a:rPr sz="900" b="0" i="1">
                <a:solidFill>
                  <a:srgbClr val="595959"/>
                </a:solidFill>
                <a:latin typeface="Arial"/>
              </a:rPr>
              <a:t>B1 Mon 22:00–23:00 · B2 Mon 23:30–00:35 · B3 Wed 01:00–02:00 (illustrative)</a:t>
            </a:r>
          </a:p>
        </p:txBody>
      </p:sp>
      <p:sp>
        <p:nvSpPr>
          <p:cNvPr id="17476" name="TextBox 17475"/>
          <p:cNvSpPr txBox="1"/>
          <p:nvPr/>
        </p:nvSpPr>
        <p:spPr>
          <a:xfrm>
            <a:off x="5559552" y="4480559"/>
            <a:ext cx="6190488" cy="219456"/>
          </a:xfrm>
          <a:prstGeom prst="rect">
            <a:avLst/>
          </a:prstGeom>
          <a:noFill/>
        </p:spPr>
        <p:txBody>
          <a:bodyPr wrap="square" lIns="18288" tIns="0" rIns="0" bIns="0" anchor="t"/>
          <a:lstStyle/>
          <a:p>
            <a:pPr algn="l" marL="0" indent="0">
              <a:buNone/>
            </a:pPr>
            <a:r>
              <a:rPr sz="1000" b="1" i="0">
                <a:solidFill>
                  <a:srgbClr val="1F3864"/>
                </a:solidFill>
                <a:latin typeface="Arial"/>
              </a:rPr>
              <a:t>Example output </a:t>
            </a:r>
            <a:r>
              <a:rPr sz="1000" b="1" i="1">
                <a:solidFill>
                  <a:srgbClr val="9A4A00"/>
                </a:solidFill>
                <a:latin typeface="Arial"/>
              </a:rPr>
              <a:t>(illustrative, assumed data; not a result)</a:t>
            </a:r>
          </a:p>
        </p:txBody>
      </p:sp>
      <p:sp>
        <p:nvSpPr>
          <p:cNvPr id="17477" name="Rectangle 17476"/>
          <p:cNvSpPr/>
          <p:nvPr/>
        </p:nvSpPr>
        <p:spPr>
          <a:xfrm>
            <a:off x="5943600" y="4754879"/>
            <a:ext cx="2743200" cy="1298448"/>
          </a:xfrm>
          <a:prstGeom prst="rect">
            <a:avLst/>
          </a:prstGeom>
          <a:solidFill>
            <a:srgbClr val="FFFFFF"/>
          </a:solidFill>
          <a:ln w="9525">
            <a:solidFill>
              <a:srgbClr val="C9D6E6"/>
            </a:solidFill>
          </a:ln>
          <a:effectLst/>
        </p:spPr>
        <p:txBody>
          <a:bodyPr rtlCol="0" anchor="ctr"/>
          <a:lstStyle/>
          <a:p/>
        </p:txBody>
      </p:sp>
      <p:sp>
        <p:nvSpPr>
          <p:cNvPr id="17478" name="Rectangle 17477"/>
          <p:cNvSpPr/>
          <p:nvPr/>
        </p:nvSpPr>
        <p:spPr>
          <a:xfrm>
            <a:off x="5943600" y="5079492"/>
            <a:ext cx="2743200" cy="811529"/>
          </a:xfrm>
          <a:prstGeom prst="rect">
            <a:avLst/>
          </a:prstGeom>
          <a:solidFill>
            <a:srgbClr val="E9EDF2"/>
          </a:solidFill>
          <a:ln>
            <a:noFill/>
          </a:ln>
          <a:effectLst/>
        </p:spPr>
        <p:txBody>
          <a:bodyPr rtlCol="0" anchor="ctr"/>
          <a:lstStyle/>
          <a:p/>
        </p:txBody>
      </p:sp>
      <p:sp>
        <p:nvSpPr>
          <p:cNvPr id="17479" name="TextBox 17478"/>
          <p:cNvSpPr txBox="1"/>
          <p:nvPr/>
        </p:nvSpPr>
        <p:spPr>
          <a:xfrm>
            <a:off x="5961888" y="5070348"/>
            <a:ext cx="1554480" cy="164592"/>
          </a:xfrm>
          <a:prstGeom prst="rect">
            <a:avLst/>
          </a:prstGeom>
          <a:noFill/>
        </p:spPr>
        <p:txBody>
          <a:bodyPr wrap="square" lIns="18288" tIns="0" rIns="0" bIns="0" anchor="t"/>
          <a:lstStyle/>
          <a:p>
            <a:pPr algn="l" marL="0" indent="0">
              <a:buNone/>
            </a:pPr>
            <a:r>
              <a:rPr sz="800" b="0" i="0">
                <a:solidFill>
                  <a:srgbClr val="595959"/>
                </a:solidFill>
                <a:latin typeface="Arial"/>
              </a:rPr>
              <a:t>Corridor block 22:00–01:00</a:t>
            </a:r>
          </a:p>
        </p:txBody>
      </p:sp>
      <p:sp>
        <p:nvSpPr>
          <p:cNvPr id="17480" name="Rectangle 17479"/>
          <p:cNvSpPr/>
          <p:nvPr/>
        </p:nvSpPr>
        <p:spPr>
          <a:xfrm>
            <a:off x="5943600" y="5404103"/>
            <a:ext cx="914400" cy="324611"/>
          </a:xfrm>
          <a:prstGeom prst="rect">
            <a:avLst/>
          </a:prstGeom>
          <a:solidFill>
            <a:srgbClr val="0070C0"/>
          </a:solidFill>
          <a:ln>
            <a:noFill/>
          </a:ln>
          <a:effectLst/>
        </p:spPr>
        <p:txBody>
          <a:bodyPr rtlCol="0" anchor="ctr" wrap="square" lIns="0" rIns="0" tIns="27432" bIns="27432"/>
          <a:lstStyle/>
          <a:p>
            <a:pPr algn="ctr">
              <a:spcAft>
                <a:spcPts val="0"/>
              </a:spcAft>
            </a:pPr>
            <a:r>
              <a:rPr sz="900" b="1" i="0">
                <a:solidFill>
                  <a:srgbClr val="FFFFFF"/>
                </a:solidFill>
                <a:latin typeface="Arial"/>
              </a:rPr>
              <a:t>B1</a:t>
            </a:r>
          </a:p>
        </p:txBody>
      </p:sp>
      <p:sp>
        <p:nvSpPr>
          <p:cNvPr id="17481" name="Rectangle 17480"/>
          <p:cNvSpPr/>
          <p:nvPr/>
        </p:nvSpPr>
        <p:spPr>
          <a:xfrm>
            <a:off x="7315200" y="5241797"/>
            <a:ext cx="990295" cy="324612"/>
          </a:xfrm>
          <a:prstGeom prst="rect">
            <a:avLst/>
          </a:prstGeom>
          <a:solidFill>
            <a:srgbClr val="0070C0"/>
          </a:solidFill>
          <a:ln>
            <a:noFill/>
          </a:ln>
          <a:effectLst/>
        </p:spPr>
        <p:txBody>
          <a:bodyPr rtlCol="0" anchor="ctr" wrap="square" lIns="0" rIns="0" tIns="27432" bIns="27432"/>
          <a:lstStyle/>
          <a:p>
            <a:pPr algn="ctr">
              <a:spcAft>
                <a:spcPts val="0"/>
              </a:spcAft>
            </a:pPr>
            <a:r>
              <a:rPr sz="900" b="1" i="0">
                <a:solidFill>
                  <a:srgbClr val="FFFFFF"/>
                </a:solidFill>
                <a:latin typeface="Arial"/>
              </a:rPr>
              <a:t>B2</a:t>
            </a:r>
          </a:p>
        </p:txBody>
      </p:sp>
      <p:cxnSp>
        <p:nvCxnSpPr>
          <p:cNvPr id="17482" name="Connector 17481"/>
          <p:cNvCxnSpPr/>
          <p:nvPr/>
        </p:nvCxnSpPr>
        <p:spPr>
          <a:xfrm flipV="1">
            <a:off x="7010704" y="4754879"/>
            <a:ext cx="228600" cy="1298448"/>
          </a:xfrm>
          <a:prstGeom prst="line">
            <a:avLst/>
          </a:prstGeom>
          <a:ln w="31750">
            <a:solidFill>
              <a:srgbClr val="1F3864"/>
            </a:solidFill>
          </a:ln>
        </p:spPr>
      </p:cxnSp>
      <p:sp>
        <p:nvSpPr>
          <p:cNvPr id="17483" name="TextBox 17482"/>
          <p:cNvSpPr txBox="1"/>
          <p:nvPr/>
        </p:nvSpPr>
        <p:spPr>
          <a:xfrm>
            <a:off x="7221016" y="4745736"/>
            <a:ext cx="914400" cy="182880"/>
          </a:xfrm>
          <a:prstGeom prst="rect">
            <a:avLst/>
          </a:prstGeom>
          <a:noFill/>
        </p:spPr>
        <p:txBody>
          <a:bodyPr wrap="square" lIns="18288" tIns="0" rIns="0" bIns="0" anchor="t"/>
          <a:lstStyle/>
          <a:p>
            <a:pPr algn="l" marL="0" indent="0">
              <a:buNone/>
            </a:pPr>
            <a:r>
              <a:rPr sz="800" b="1" i="0">
                <a:solidFill>
                  <a:srgbClr val="1F3864"/>
                </a:solidFill>
                <a:latin typeface="Arial"/>
              </a:rPr>
              <a:t>Premium 23:10</a:t>
            </a:r>
          </a:p>
        </p:txBody>
      </p:sp>
      <p:cxnSp>
        <p:nvCxnSpPr>
          <p:cNvPr id="17484" name="Connector 17483"/>
          <p:cNvCxnSpPr/>
          <p:nvPr/>
        </p:nvCxnSpPr>
        <p:spPr>
          <a:xfrm flipV="1">
            <a:off x="8382304" y="5079492"/>
            <a:ext cx="304496" cy="973835"/>
          </a:xfrm>
          <a:prstGeom prst="line">
            <a:avLst/>
          </a:prstGeom>
          <a:ln w="15875">
            <a:solidFill>
              <a:srgbClr val="595959"/>
            </a:solidFill>
          </a:ln>
        </p:spPr>
      </p:cxnSp>
      <p:sp>
        <p:nvSpPr>
          <p:cNvPr id="17485" name="TextBox 17484"/>
          <p:cNvSpPr txBox="1"/>
          <p:nvPr/>
        </p:nvSpPr>
        <p:spPr>
          <a:xfrm>
            <a:off x="7815376" y="5669279"/>
            <a:ext cx="566928" cy="182880"/>
          </a:xfrm>
          <a:prstGeom prst="rect">
            <a:avLst/>
          </a:prstGeom>
          <a:noFill/>
        </p:spPr>
        <p:txBody>
          <a:bodyPr wrap="square" lIns="0" tIns="0" rIns="18288" bIns="0" anchor="t"/>
          <a:lstStyle/>
          <a:p>
            <a:pPr algn="r" marL="0" indent="0">
              <a:buNone/>
            </a:pPr>
            <a:r>
              <a:rPr sz="800" b="0" i="0">
                <a:solidFill>
                  <a:srgbClr val="595959"/>
                </a:solidFill>
                <a:latin typeface="Arial"/>
              </a:rPr>
              <a:t>Goods</a:t>
            </a:r>
          </a:p>
        </p:txBody>
      </p:sp>
      <p:sp>
        <p:nvSpPr>
          <p:cNvPr id="17486" name="TextBox 17485"/>
          <p:cNvSpPr txBox="1"/>
          <p:nvPr/>
        </p:nvSpPr>
        <p:spPr>
          <a:xfrm>
            <a:off x="5669280" y="6062471"/>
            <a:ext cx="548640" cy="164592"/>
          </a:xfrm>
          <a:prstGeom prst="rect">
            <a:avLst/>
          </a:prstGeom>
          <a:noFill/>
        </p:spPr>
        <p:txBody>
          <a:bodyPr wrap="square" lIns="0" tIns="0" rIns="0" bIns="0" anchor="t"/>
          <a:lstStyle/>
          <a:p>
            <a:pPr algn="ctr" marL="0" indent="0">
              <a:buNone/>
            </a:pPr>
            <a:r>
              <a:rPr sz="800" b="0" i="0">
                <a:solidFill>
                  <a:srgbClr val="1A1A1A"/>
                </a:solidFill>
                <a:latin typeface="Arial"/>
              </a:rPr>
              <a:t>22:00</a:t>
            </a:r>
          </a:p>
        </p:txBody>
      </p:sp>
      <p:sp>
        <p:nvSpPr>
          <p:cNvPr id="17487" name="TextBox 17486"/>
          <p:cNvSpPr txBox="1"/>
          <p:nvPr/>
        </p:nvSpPr>
        <p:spPr>
          <a:xfrm>
            <a:off x="6583680" y="6062471"/>
            <a:ext cx="548640" cy="164592"/>
          </a:xfrm>
          <a:prstGeom prst="rect">
            <a:avLst/>
          </a:prstGeom>
          <a:noFill/>
        </p:spPr>
        <p:txBody>
          <a:bodyPr wrap="square" lIns="0" tIns="0" rIns="0" bIns="0" anchor="t"/>
          <a:lstStyle/>
          <a:p>
            <a:pPr algn="ctr" marL="0" indent="0">
              <a:buNone/>
            </a:pPr>
            <a:r>
              <a:rPr sz="800" b="0" i="0">
                <a:solidFill>
                  <a:srgbClr val="1A1A1A"/>
                </a:solidFill>
                <a:latin typeface="Arial"/>
              </a:rPr>
              <a:t>23:00</a:t>
            </a:r>
          </a:p>
        </p:txBody>
      </p:sp>
      <p:sp>
        <p:nvSpPr>
          <p:cNvPr id="17488" name="TextBox 17487"/>
          <p:cNvSpPr txBox="1"/>
          <p:nvPr/>
        </p:nvSpPr>
        <p:spPr>
          <a:xfrm>
            <a:off x="7498079" y="6062471"/>
            <a:ext cx="548640" cy="164592"/>
          </a:xfrm>
          <a:prstGeom prst="rect">
            <a:avLst/>
          </a:prstGeom>
          <a:noFill/>
        </p:spPr>
        <p:txBody>
          <a:bodyPr wrap="square" lIns="0" tIns="0" rIns="0" bIns="0" anchor="t"/>
          <a:lstStyle/>
          <a:p>
            <a:pPr algn="ctr" marL="0" indent="0">
              <a:buNone/>
            </a:pPr>
            <a:r>
              <a:rPr sz="800" b="0" i="0">
                <a:solidFill>
                  <a:srgbClr val="1A1A1A"/>
                </a:solidFill>
                <a:latin typeface="Arial"/>
              </a:rPr>
              <a:t>00:00</a:t>
            </a:r>
          </a:p>
        </p:txBody>
      </p:sp>
      <p:sp>
        <p:nvSpPr>
          <p:cNvPr id="17489" name="TextBox 17488"/>
          <p:cNvSpPr txBox="1"/>
          <p:nvPr/>
        </p:nvSpPr>
        <p:spPr>
          <a:xfrm>
            <a:off x="8412480" y="6062471"/>
            <a:ext cx="548640" cy="164592"/>
          </a:xfrm>
          <a:prstGeom prst="rect">
            <a:avLst/>
          </a:prstGeom>
          <a:noFill/>
        </p:spPr>
        <p:txBody>
          <a:bodyPr wrap="square" lIns="0" tIns="0" rIns="0" bIns="0" anchor="t"/>
          <a:lstStyle/>
          <a:p>
            <a:pPr algn="ctr" marL="0" indent="0">
              <a:buNone/>
            </a:pPr>
            <a:r>
              <a:rPr sz="800" b="0" i="0">
                <a:solidFill>
                  <a:srgbClr val="1A1A1A"/>
                </a:solidFill>
                <a:latin typeface="Arial"/>
              </a:rPr>
              <a:t>01:00</a:t>
            </a:r>
          </a:p>
        </p:txBody>
      </p:sp>
      <p:sp>
        <p:nvSpPr>
          <p:cNvPr id="17490" name="TextBox 17489"/>
          <p:cNvSpPr txBox="1"/>
          <p:nvPr/>
        </p:nvSpPr>
        <p:spPr>
          <a:xfrm>
            <a:off x="5559552" y="5971031"/>
            <a:ext cx="365760" cy="164592"/>
          </a:xfrm>
          <a:prstGeom prst="rect">
            <a:avLst/>
          </a:prstGeom>
          <a:noFill/>
        </p:spPr>
        <p:txBody>
          <a:bodyPr wrap="square" lIns="0" tIns="0" rIns="18288" bIns="0" anchor="t"/>
          <a:lstStyle/>
          <a:p>
            <a:pPr algn="r" marL="0" indent="0">
              <a:buNone/>
            </a:pPr>
            <a:r>
              <a:rPr sz="800" b="0" i="0">
                <a:solidFill>
                  <a:srgbClr val="1A1A1A"/>
                </a:solidFill>
                <a:latin typeface="Arial"/>
              </a:rPr>
              <a:t>km 122</a:t>
            </a:r>
          </a:p>
        </p:txBody>
      </p:sp>
      <p:sp>
        <p:nvSpPr>
          <p:cNvPr id="17491" name="TextBox 17490"/>
          <p:cNvSpPr txBox="1"/>
          <p:nvPr/>
        </p:nvSpPr>
        <p:spPr>
          <a:xfrm>
            <a:off x="5559552" y="5321807"/>
            <a:ext cx="365760" cy="164592"/>
          </a:xfrm>
          <a:prstGeom prst="rect">
            <a:avLst/>
          </a:prstGeom>
          <a:noFill/>
        </p:spPr>
        <p:txBody>
          <a:bodyPr wrap="square" lIns="0" tIns="0" rIns="18288" bIns="0" anchor="t"/>
          <a:lstStyle/>
          <a:p>
            <a:pPr algn="r" marL="0" indent="0">
              <a:buNone/>
            </a:pPr>
            <a:r>
              <a:rPr sz="800" b="0" i="0">
                <a:solidFill>
                  <a:srgbClr val="1A1A1A"/>
                </a:solidFill>
                <a:latin typeface="Arial"/>
              </a:rPr>
              <a:t>km 126</a:t>
            </a:r>
          </a:p>
        </p:txBody>
      </p:sp>
      <p:sp>
        <p:nvSpPr>
          <p:cNvPr id="17492" name="TextBox 17491"/>
          <p:cNvSpPr txBox="1"/>
          <p:nvPr/>
        </p:nvSpPr>
        <p:spPr>
          <a:xfrm>
            <a:off x="5559552" y="4672583"/>
            <a:ext cx="365760" cy="164592"/>
          </a:xfrm>
          <a:prstGeom prst="rect">
            <a:avLst/>
          </a:prstGeom>
          <a:noFill/>
        </p:spPr>
        <p:txBody>
          <a:bodyPr wrap="square" lIns="0" tIns="0" rIns="18288" bIns="0" anchor="t"/>
          <a:lstStyle/>
          <a:p>
            <a:pPr algn="r" marL="0" indent="0">
              <a:buNone/>
            </a:pPr>
            <a:r>
              <a:rPr sz="800" b="0" i="0">
                <a:solidFill>
                  <a:srgbClr val="1A1A1A"/>
                </a:solidFill>
                <a:latin typeface="Arial"/>
              </a:rPr>
              <a:t>km 130</a:t>
            </a:r>
          </a:p>
        </p:txBody>
      </p:sp>
      <p:graphicFrame>
        <p:nvGraphicFramePr>
          <p:cNvPr id="17493" name="Table 17492"/>
          <p:cNvGraphicFramePr>
            <a:graphicFrameLocks noGrp="1"/>
          </p:cNvGraphicFramePr>
          <p:nvPr/>
        </p:nvGraphicFramePr>
        <p:xfrm>
          <a:off x="8887968" y="4754879"/>
          <a:ext cx="2852928" cy="1188720"/>
        </p:xfrm>
        <a:graphic>
          <a:graphicData uri="http://schemas.openxmlformats.org/drawingml/2006/table">
            <a:tbl>
              <a:tblPr firstRow="1" bandRow="1">
                <a:tableStyleId>{5C22544A-7EE6-4342-B048-85BDC9FD1C3A}</a:tableStyleId>
              </a:tblPr>
              <a:tblGrid>
                <a:gridCol w="1737360"/>
                <a:gridCol w="548640"/>
                <a:gridCol w="566928"/>
              </a:tblGrid>
              <a:tr h="237744">
                <a:tc>
                  <a:txBody>
                    <a:bodyPr wrap="square"/>
                    <a:lstStyle/>
                    <a:p>
                      <a:r>
                        <a:rPr sz="900" b="1" i="0">
                          <a:solidFill>
                            <a:srgbClr val="FFFFFF"/>
                          </a:solidFill>
                          <a:latin typeface="Arial"/>
                        </a:rPr>
                        <a:t>Task (department)</a:t>
                      </a:r>
                    </a:p>
                  </a:txBody>
                  <a:tcPr marL="45720" marR="45720" marT="9144" marB="9144" anchor="ctr">
                    <a:solidFill>
                      <a:srgbClr val="1F3864"/>
                    </a:solidFill>
                  </a:tcPr>
                </a:tc>
                <a:tc>
                  <a:txBody>
                    <a:bodyPr wrap="square"/>
                    <a:lstStyle/>
                    <a:p>
                      <a:r>
                        <a:rPr sz="900" b="1" i="0">
                          <a:solidFill>
                            <a:srgbClr val="FFFFFF"/>
                          </a:solidFill>
                          <a:latin typeface="Arial"/>
                        </a:rPr>
                        <a:t>km</a:t>
                      </a:r>
                    </a:p>
                  </a:txBody>
                  <a:tcPr marL="45720" marR="45720" marT="9144" marB="9144" anchor="ctr">
                    <a:solidFill>
                      <a:srgbClr val="1F3864"/>
                    </a:solidFill>
                  </a:tcPr>
                </a:tc>
                <a:tc>
                  <a:txBody>
                    <a:bodyPr wrap="square"/>
                    <a:lstStyle/>
                    <a:p>
                      <a:r>
                        <a:rPr sz="900" b="1" i="0">
                          <a:solidFill>
                            <a:srgbClr val="FFFFFF"/>
                          </a:solidFill>
                          <a:latin typeface="Arial"/>
                        </a:rPr>
                        <a:t>Block</a:t>
                      </a:r>
                    </a:p>
                  </a:txBody>
                  <a:tcPr marL="45720" marR="45720" marT="9144" marB="9144" anchor="ctr">
                    <a:solidFill>
                      <a:srgbClr val="1F3864"/>
                    </a:solidFill>
                  </a:tcPr>
                </a:tc>
              </a:tr>
              <a:tr h="237744">
                <a:tc>
                  <a:txBody>
                    <a:bodyPr wrap="square"/>
                    <a:lstStyle/>
                    <a:p>
                      <a:r>
                        <a:rPr sz="900" b="0" i="0">
                          <a:solidFill>
                            <a:srgbClr val="1A1A1A"/>
                          </a:solidFill>
                          <a:latin typeface="Arial"/>
                        </a:rPr>
                        <a:t>E1 rail repair (Engg)</a:t>
                      </a:r>
                    </a:p>
                  </a:txBody>
                  <a:tcPr marL="45720" marR="45720" marT="9144" marB="9144" anchor="ctr">
                    <a:solidFill>
                      <a:srgbClr val="F7F9FC"/>
                    </a:solidFill>
                  </a:tcPr>
                </a:tc>
                <a:tc>
                  <a:txBody>
                    <a:bodyPr wrap="square"/>
                    <a:lstStyle/>
                    <a:p>
                      <a:r>
                        <a:rPr sz="900" b="0" i="0">
                          <a:solidFill>
                            <a:srgbClr val="1A1A1A"/>
                          </a:solidFill>
                          <a:latin typeface="Arial"/>
                        </a:rPr>
                        <a:t>124.2</a:t>
                      </a:r>
                    </a:p>
                  </a:txBody>
                  <a:tcPr marL="45720" marR="45720" marT="9144" marB="9144" anchor="ctr">
                    <a:solidFill>
                      <a:srgbClr val="F7F9FC"/>
                    </a:solidFill>
                  </a:tcPr>
                </a:tc>
                <a:tc>
                  <a:txBody>
                    <a:bodyPr wrap="square"/>
                    <a:lstStyle/>
                    <a:p>
                      <a:r>
                        <a:rPr sz="900" b="0" i="0">
                          <a:solidFill>
                            <a:srgbClr val="1A1A1A"/>
                          </a:solidFill>
                          <a:latin typeface="Arial"/>
                        </a:rPr>
                        <a:t>B1</a:t>
                      </a:r>
                    </a:p>
                  </a:txBody>
                  <a:tcPr marL="45720" marR="45720" marT="9144" marB="9144" anchor="ctr">
                    <a:solidFill>
                      <a:srgbClr val="F7F9FC"/>
                    </a:solidFill>
                  </a:tcPr>
                </a:tc>
              </a:tr>
              <a:tr h="237744">
                <a:tc>
                  <a:txBody>
                    <a:bodyPr wrap="square"/>
                    <a:lstStyle/>
                    <a:p>
                      <a:r>
                        <a:rPr sz="900" b="0" i="0">
                          <a:solidFill>
                            <a:srgbClr val="1A1A1A"/>
                          </a:solidFill>
                          <a:latin typeface="Arial"/>
                        </a:rPr>
                        <a:t>S1 signal work (S&amp;T)</a:t>
                      </a:r>
                    </a:p>
                  </a:txBody>
                  <a:tcPr marL="45720" marR="45720" marT="9144" marB="9144" anchor="ctr">
                    <a:solidFill>
                      <a:srgbClr val="FFFFFF"/>
                    </a:solidFill>
                  </a:tcPr>
                </a:tc>
                <a:tc>
                  <a:txBody>
                    <a:bodyPr wrap="square"/>
                    <a:lstStyle/>
                    <a:p>
                      <a:r>
                        <a:rPr sz="900" b="0" i="0">
                          <a:solidFill>
                            <a:srgbClr val="1A1A1A"/>
                          </a:solidFill>
                          <a:latin typeface="Arial"/>
                        </a:rPr>
                        <a:t>124.8</a:t>
                      </a:r>
                    </a:p>
                  </a:txBody>
                  <a:tcPr marL="45720" marR="45720" marT="9144" marB="9144" anchor="ctr">
                    <a:solidFill>
                      <a:srgbClr val="FFFFFF"/>
                    </a:solidFill>
                  </a:tcPr>
                </a:tc>
                <a:tc>
                  <a:txBody>
                    <a:bodyPr wrap="square"/>
                    <a:lstStyle/>
                    <a:p>
                      <a:r>
                        <a:rPr sz="900" b="0" i="0">
                          <a:solidFill>
                            <a:srgbClr val="1A1A1A"/>
                          </a:solidFill>
                          <a:latin typeface="Arial"/>
                        </a:rPr>
                        <a:t>B1</a:t>
                      </a:r>
                    </a:p>
                  </a:txBody>
                  <a:tcPr marL="45720" marR="45720" marT="9144" marB="9144" anchor="ctr">
                    <a:solidFill>
                      <a:srgbClr val="FFFFFF"/>
                    </a:solidFill>
                  </a:tcPr>
                </a:tc>
              </a:tr>
              <a:tr h="237744">
                <a:tc>
                  <a:txBody>
                    <a:bodyPr wrap="square"/>
                    <a:lstStyle/>
                    <a:p>
                      <a:r>
                        <a:rPr sz="900" b="0" i="0">
                          <a:solidFill>
                            <a:srgbClr val="1A1A1A"/>
                          </a:solidFill>
                          <a:latin typeface="Arial"/>
                        </a:rPr>
                        <a:t>T1 OHE work (Traction)</a:t>
                      </a:r>
                    </a:p>
                  </a:txBody>
                  <a:tcPr marL="45720" marR="45720" marT="9144" marB="9144" anchor="ctr">
                    <a:solidFill>
                      <a:srgbClr val="F7F9FC"/>
                    </a:solidFill>
                  </a:tcPr>
                </a:tc>
                <a:tc>
                  <a:txBody>
                    <a:bodyPr wrap="square"/>
                    <a:lstStyle/>
                    <a:p>
                      <a:r>
                        <a:rPr sz="900" b="0" i="0">
                          <a:solidFill>
                            <a:srgbClr val="1A1A1A"/>
                          </a:solidFill>
                          <a:latin typeface="Arial"/>
                        </a:rPr>
                        <a:t>125.0</a:t>
                      </a:r>
                    </a:p>
                  </a:txBody>
                  <a:tcPr marL="45720" marR="45720" marT="9144" marB="9144" anchor="ctr">
                    <a:solidFill>
                      <a:srgbClr val="F7F9FC"/>
                    </a:solidFill>
                  </a:tcPr>
                </a:tc>
                <a:tc>
                  <a:txBody>
                    <a:bodyPr wrap="square"/>
                    <a:lstStyle/>
                    <a:p>
                      <a:r>
                        <a:rPr sz="900" b="0" i="0">
                          <a:solidFill>
                            <a:srgbClr val="1A1A1A"/>
                          </a:solidFill>
                          <a:latin typeface="Arial"/>
                        </a:rPr>
                        <a:t>B2</a:t>
                      </a:r>
                    </a:p>
                  </a:txBody>
                  <a:tcPr marL="45720" marR="45720" marT="9144" marB="9144" anchor="ctr">
                    <a:solidFill>
                      <a:srgbClr val="F7F9FC"/>
                    </a:solidFill>
                  </a:tcPr>
                </a:tc>
              </a:tr>
              <a:tr h="237744">
                <a:tc>
                  <a:txBody>
                    <a:bodyPr wrap="square"/>
                    <a:lstStyle/>
                    <a:p>
                      <a:r>
                        <a:rPr sz="900" b="0" i="0">
                          <a:solidFill>
                            <a:srgbClr val="1A1A1A"/>
                          </a:solidFill>
                          <a:latin typeface="Arial"/>
                        </a:rPr>
                        <a:t>E2 grinding (Engg)</a:t>
                      </a:r>
                    </a:p>
                  </a:txBody>
                  <a:tcPr marL="45720" marR="45720" marT="9144" marB="9144" anchor="ctr">
                    <a:solidFill>
                      <a:srgbClr val="FFFFFF"/>
                    </a:solidFill>
                  </a:tcPr>
                </a:tc>
                <a:tc>
                  <a:txBody>
                    <a:bodyPr wrap="square"/>
                    <a:lstStyle/>
                    <a:p>
                      <a:r>
                        <a:rPr sz="900" b="0" i="0">
                          <a:solidFill>
                            <a:srgbClr val="1A1A1A"/>
                          </a:solidFill>
                          <a:latin typeface="Arial"/>
                        </a:rPr>
                        <a:t>126.1</a:t>
                      </a:r>
                    </a:p>
                  </a:txBody>
                  <a:tcPr marL="45720" marR="45720" marT="9144" marB="9144" anchor="ctr">
                    <a:solidFill>
                      <a:srgbClr val="FFFFFF"/>
                    </a:solidFill>
                  </a:tcPr>
                </a:tc>
                <a:tc>
                  <a:txBody>
                    <a:bodyPr wrap="square"/>
                    <a:lstStyle/>
                    <a:p>
                      <a:r>
                        <a:rPr sz="900" b="0" i="0">
                          <a:solidFill>
                            <a:srgbClr val="1A1A1A"/>
                          </a:solidFill>
                          <a:latin typeface="Arial"/>
                        </a:rPr>
                        <a:t>B2</a:t>
                      </a:r>
                    </a:p>
                  </a:txBody>
                  <a:tcPr marL="45720" marR="45720" marT="9144" marB="9144" anchor="ctr">
                    <a:solidFill>
                      <a:srgbClr val="FFFFFF"/>
                    </a:solidFill>
                  </a:tcPr>
                </a:tc>
              </a:tr>
            </a:tbl>
          </a:graphicData>
        </a:graphic>
      </p:graphicFrame>
      <p:sp>
        <p:nvSpPr>
          <p:cNvPr id="17494" name="TextBox 17493"/>
          <p:cNvSpPr txBox="1"/>
          <p:nvPr/>
        </p:nvSpPr>
        <p:spPr>
          <a:xfrm>
            <a:off x="8851392" y="5980175"/>
            <a:ext cx="2926080" cy="457200"/>
          </a:xfrm>
          <a:prstGeom prst="rect">
            <a:avLst/>
          </a:prstGeom>
          <a:noFill/>
        </p:spPr>
        <p:txBody>
          <a:bodyPr wrap="square" lIns="36576" tIns="0" rIns="0" bIns="0" anchor="t"/>
          <a:lstStyle/>
          <a:p>
            <a:pPr algn="l" marL="0" indent="0">
              <a:buNone/>
            </a:pPr>
            <a:r>
              <a:rPr sz="950" b="1" i="0">
                <a:solidFill>
                  <a:srgbClr val="1F3864"/>
                </a:solidFill>
                <a:latin typeface="Arial"/>
              </a:rPr>
              <a:t>Siloed: 4 blocks. Integrated: 2. </a:t>
            </a:r>
            <a:r>
              <a:rPr sz="950" b="0" i="0">
                <a:solidFill>
                  <a:srgbClr val="1A1A1A"/>
                </a:solidFill>
                <a:latin typeface="Arial"/>
              </a:rPr>
              <a:t>Premium-train conflict: none.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b="1" sz="1300"/>
              <a:t>InnoByte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Rectangle 17409"/>
          <p:cNvSpPr/>
          <p:nvPr/>
        </p:nvSpPr>
        <p:spPr>
          <a:xfrm>
            <a:off x="365760" y="1234440"/>
            <a:ext cx="4343400" cy="457200"/>
          </a:xfrm>
          <a:prstGeom prst="rect">
            <a:avLst/>
          </a:prstGeom>
          <a:solidFill>
            <a:srgbClr val="1F3864"/>
          </a:solidFill>
          <a:ln w="9525">
            <a:solidFill>
              <a:srgbClr val="1F3864"/>
            </a:solidFill>
          </a:ln>
          <a:effectLst/>
        </p:spPr>
        <p:txBody>
          <a:bodyPr rtlCol="0" anchor="ctr" wrap="square" lIns="109728" rIns="109728" tIns="36576" bIns="36576"/>
          <a:lstStyle/>
          <a:p>
            <a:pPr algn="l"/>
            <a:r>
              <a:rPr sz="1200" b="1" i="0">
                <a:solidFill>
                  <a:srgbClr val="FFFFFF"/>
                </a:solidFill>
                <a:latin typeface="Arial"/>
              </a:rPr>
              <a:t>Analysis of the feasibility of the idea</a:t>
            </a:r>
          </a:p>
        </p:txBody>
      </p:sp>
      <p:sp>
        <p:nvSpPr>
          <p:cNvPr id="17411" name="Rectangle 17410"/>
          <p:cNvSpPr/>
          <p:nvPr/>
        </p:nvSpPr>
        <p:spPr>
          <a:xfrm>
            <a:off x="365760" y="1691640"/>
            <a:ext cx="4343400" cy="3291840"/>
          </a:xfrm>
          <a:prstGeom prst="rect">
            <a:avLst/>
          </a:prstGeom>
          <a:solidFill>
            <a:srgbClr val="F7F9FC"/>
          </a:solidFill>
          <a:ln w="9525">
            <a:solidFill>
              <a:srgbClr val="C9D6E6"/>
            </a:solidFill>
          </a:ln>
          <a:effectLst/>
        </p:spPr>
        <p:txBody>
          <a:bodyPr rtlCol="0" anchor="ctr"/>
          <a:lstStyle/>
          <a:p/>
        </p:txBody>
      </p:sp>
      <p:sp>
        <p:nvSpPr>
          <p:cNvPr id="17412" name="TextBox 17411"/>
          <p:cNvSpPr txBox="1"/>
          <p:nvPr/>
        </p:nvSpPr>
        <p:spPr>
          <a:xfrm>
            <a:off x="384048" y="1737360"/>
            <a:ext cx="4306824" cy="2286000"/>
          </a:xfrm>
          <a:prstGeom prst="rect">
            <a:avLst/>
          </a:prstGeom>
          <a:noFill/>
        </p:spPr>
        <p:txBody>
          <a:bodyPr wrap="square" lIns="73152" rIns="73152" anchor="t"/>
          <a:lstStyle/>
          <a:p>
            <a:pPr algn="l" marL="0" indent="0">
              <a:spcAft>
                <a:spcPts val="500"/>
              </a:spcAft>
              <a:buNone/>
            </a:pPr>
            <a:r>
              <a:rPr sz="1100" b="1" i="0">
                <a:solidFill>
                  <a:srgbClr val="1F3864"/>
                </a:solidFill>
                <a:latin typeface="Arial"/>
              </a:rPr>
              <a:t>Technical. </a:t>
            </a:r>
            <a:r>
              <a:rPr sz="1100" b="0" i="0">
                <a:solidFill>
                  <a:srgbClr val="1A1A1A"/>
                </a:solidFill>
                <a:latin typeface="Arial"/>
              </a:rPr>
              <a:t>Skills: Python, FastAPI, Next.js, PostgreSQL, ML. Prototype scope: </a:t>
            </a:r>
            <a:r>
              <a:rPr sz="1100" b="1" i="0">
                <a:solidFill>
                  <a:srgbClr val="1A1A1A"/>
                </a:solidFill>
                <a:latin typeface="Arial"/>
              </a:rPr>
              <a:t>steps 1–6 on one synthetic corridor</a:t>
            </a:r>
            <a:r>
              <a:rPr sz="1100" b="0" i="0">
                <a:solidFill>
                  <a:srgbClr val="1A1A1A"/>
                </a:solidFill>
                <a:latin typeface="Arial"/>
              </a:rPr>
              <a:t>. Assumed size, to validate: a few hundred blocks per weekly plan.</a:t>
            </a:r>
          </a:p>
          <a:p>
            <a:pPr algn="l" marL="0" indent="0">
              <a:spcAft>
                <a:spcPts val="500"/>
              </a:spcAft>
              <a:buNone/>
            </a:pPr>
            <a:r>
              <a:rPr sz="1100" b="1" i="0">
                <a:solidFill>
                  <a:srgbClr val="1F3864"/>
                </a:solidFill>
                <a:latin typeface="Arial"/>
              </a:rPr>
              <a:t>Market. </a:t>
            </a:r>
            <a:r>
              <a:rPr sz="1100" b="0" i="0">
                <a:solidFill>
                  <a:srgbClr val="1A1A1A"/>
                </a:solidFill>
                <a:latin typeface="Arial"/>
              </a:rPr>
              <a:t>Sole intended user: Indian Railways. Block planning is a </a:t>
            </a:r>
            <a:r>
              <a:rPr sz="1100" b="1" i="0">
                <a:solidFill>
                  <a:srgbClr val="1A1A1A"/>
                </a:solidFill>
                <a:latin typeface="Arial"/>
              </a:rPr>
              <a:t>recurring cycle, not a one-time task</a:t>
            </a:r>
            <a:r>
              <a:rPr sz="1100" b="0" i="0">
                <a:solidFill>
                  <a:srgbClr val="1A1A1A"/>
                </a:solidFill>
                <a:latin typeface="Arial"/>
              </a:rPr>
              <a:t>: monthly corridor reservations, weekly detailed schedules re-planned as work is completed, and Rolling Block plans </a:t>
            </a:r>
            <a:r>
              <a:rPr sz="1100" b="1" i="0">
                <a:solidFill>
                  <a:srgbClr val="1A1A1A"/>
                </a:solidFill>
                <a:latin typeface="Arial"/>
              </a:rPr>
              <a:t>up to 52 weeks ahead</a:t>
            </a:r>
            <a:r>
              <a:rPr sz="1100" b="0" i="0">
                <a:solidFill>
                  <a:srgbClr val="1A1A1A"/>
                </a:solidFill>
                <a:latin typeface="Arial"/>
              </a:rPr>
              <a:t> (MoR 2025). Alternative today: separate manual demands per department (problem statement).</a:t>
            </a:r>
          </a:p>
          <a:p>
            <a:pPr algn="l" marL="0" indent="0">
              <a:spcAft>
                <a:spcPts val="0"/>
              </a:spcAft>
              <a:buNone/>
            </a:pPr>
            <a:r>
              <a:rPr sz="1100" b="1" i="0">
                <a:solidFill>
                  <a:srgbClr val="1F3864"/>
                </a:solidFill>
                <a:latin typeface="Arial"/>
              </a:rPr>
              <a:t>Operational. </a:t>
            </a:r>
            <a:r>
              <a:rPr sz="1100" b="0" i="0">
                <a:solidFill>
                  <a:srgbClr val="1A1A1A"/>
                </a:solidFill>
                <a:latin typeface="Arial"/>
              </a:rPr>
              <a:t>Not validated: pilot with one division, then a support contract. </a:t>
            </a:r>
            <a:r>
              <a:rPr sz="1100" b="1" i="0">
                <a:solidFill>
                  <a:srgbClr val="1A1A1A"/>
                </a:solidFill>
                <a:latin typeface="Arial"/>
              </a:rPr>
              <a:t>Shadow mode</a:t>
            </a:r>
            <a:r>
              <a:rPr sz="1100" b="0" i="0">
                <a:solidFill>
                  <a:srgbClr val="1A1A1A"/>
                </a:solidFill>
                <a:latin typeface="Arial"/>
              </a:rPr>
              <a:t> beside BDMS. Open-source stack; hosting and support recur; rules in versioned configuration.</a:t>
            </a:r>
          </a:p>
        </p:txBody>
      </p:sp>
      <p:sp>
        <p:nvSpPr>
          <p:cNvPr id="17413" name="TextBox 17412"/>
          <p:cNvSpPr txBox="1"/>
          <p:nvPr/>
        </p:nvSpPr>
        <p:spPr>
          <a:xfrm>
            <a:off x="411480" y="3968496"/>
            <a:ext cx="4251960" cy="219456"/>
          </a:xfrm>
          <a:prstGeom prst="rect">
            <a:avLst/>
          </a:prstGeom>
          <a:noFill/>
        </p:spPr>
        <p:txBody>
          <a:bodyPr wrap="square" lIns="73152" rIns="73152" anchor="t"/>
          <a:lstStyle/>
          <a:p>
            <a:pPr algn="l" marL="0" indent="0">
              <a:buNone/>
            </a:pPr>
            <a:r>
              <a:rPr sz="1100" b="1" i="0">
                <a:solidFill>
                  <a:srgbClr val="1F3864"/>
                </a:solidFill>
                <a:latin typeface="Arial"/>
              </a:rPr>
              <a:t>Adoption path</a:t>
            </a:r>
          </a:p>
        </p:txBody>
      </p:sp>
      <p:sp>
        <p:nvSpPr>
          <p:cNvPr id="17414" name="Rounded Rectangle 17413"/>
          <p:cNvSpPr/>
          <p:nvPr/>
        </p:nvSpPr>
        <p:spPr>
          <a:xfrm>
            <a:off x="457200" y="4206240"/>
            <a:ext cx="758951" cy="868680"/>
          </a:xfrm>
          <a:prstGeom prst="roundRect">
            <a:avLst>
              <a:gd name="adj" fmla="val 10000"/>
            </a:avLst>
          </a:prstGeom>
          <a:solidFill>
            <a:srgbClr val="FFFFFF"/>
          </a:solidFill>
          <a:ln w="12700">
            <a:solidFill>
              <a:srgbClr val="1F3864"/>
            </a:solidFill>
          </a:ln>
          <a:effectLst/>
        </p:spPr>
        <p:txBody>
          <a:bodyPr rtlCol="0" anchor="ctr" wrap="square" lIns="36576" rIns="36576" tIns="27432" bIns="27432"/>
          <a:lstStyle/>
          <a:p>
            <a:pPr algn="ctr">
              <a:spcAft>
                <a:spcPts val="100"/>
              </a:spcAft>
            </a:pPr>
            <a:r>
              <a:rPr sz="850" b="1" i="0">
                <a:solidFill>
                  <a:srgbClr val="1F3864"/>
                </a:solidFill>
                <a:latin typeface="Arial"/>
              </a:rPr>
              <a:t>Prototype</a:t>
            </a:r>
          </a:p>
          <a:p>
            <a:pPr algn="ctr">
              <a:spcAft>
                <a:spcPts val="0"/>
              </a:spcAft>
            </a:pPr>
            <a:r>
              <a:rPr sz="750" b="0" i="0">
                <a:solidFill>
                  <a:srgbClr val="1A1A1A"/>
                </a:solidFill>
                <a:latin typeface="Arial"/>
              </a:rPr>
              <a:t>synthetic corridor, this submission</a:t>
            </a:r>
          </a:p>
        </p:txBody>
      </p:sp>
      <p:cxnSp>
        <p:nvCxnSpPr>
          <p:cNvPr id="17415" name="Connector 17414"/>
          <p:cNvCxnSpPr/>
          <p:nvPr/>
        </p:nvCxnSpPr>
        <p:spPr>
          <a:xfrm>
            <a:off x="1216151" y="4640580"/>
            <a:ext cx="91441" cy="0"/>
          </a:xfrm>
          <a:prstGeom prst="line">
            <a:avLst/>
          </a:prstGeom>
          <a:ln w="17780">
            <a:solidFill>
              <a:srgbClr val="1F3864"/>
            </a:solidFill>
            <a:tailEnd type="triangle" w="med" len="med"/>
          </a:ln>
        </p:spPr>
      </p:cxnSp>
      <p:sp>
        <p:nvSpPr>
          <p:cNvPr id="17416" name="Rounded Rectangle 17415"/>
          <p:cNvSpPr/>
          <p:nvPr/>
        </p:nvSpPr>
        <p:spPr>
          <a:xfrm>
            <a:off x="1307591" y="4206240"/>
            <a:ext cx="758951" cy="868680"/>
          </a:xfrm>
          <a:prstGeom prst="roundRect">
            <a:avLst>
              <a:gd name="adj" fmla="val 10000"/>
            </a:avLst>
          </a:prstGeom>
          <a:solidFill>
            <a:srgbClr val="FFF3E0"/>
          </a:solidFill>
          <a:ln w="12700">
            <a:solidFill>
              <a:srgbClr val="9A4A00"/>
            </a:solidFill>
          </a:ln>
          <a:effectLst/>
        </p:spPr>
        <p:txBody>
          <a:bodyPr rtlCol="0" anchor="ctr" wrap="square" lIns="36576" rIns="36576" tIns="27432" bIns="27432"/>
          <a:lstStyle/>
          <a:p>
            <a:pPr algn="ctr">
              <a:spcAft>
                <a:spcPts val="100"/>
              </a:spcAft>
            </a:pPr>
            <a:r>
              <a:rPr sz="850" b="1" i="0">
                <a:solidFill>
                  <a:srgbClr val="9A4A00"/>
                </a:solidFill>
                <a:latin typeface="Arial"/>
              </a:rPr>
              <a:t>Division shadow mode</a:t>
            </a:r>
          </a:p>
          <a:p>
            <a:pPr algn="ctr">
              <a:spcAft>
                <a:spcPts val="0"/>
              </a:spcAft>
            </a:pPr>
            <a:r>
              <a:rPr sz="750" b="0" i="0">
                <a:solidFill>
                  <a:srgbClr val="1A1A1A"/>
                </a:solidFill>
                <a:latin typeface="Arial"/>
              </a:rPr>
              <a:t>runs alongside existing planning, advisory only</a:t>
            </a:r>
          </a:p>
        </p:txBody>
      </p:sp>
      <p:cxnSp>
        <p:nvCxnSpPr>
          <p:cNvPr id="17417" name="Connector 17416"/>
          <p:cNvCxnSpPr/>
          <p:nvPr/>
        </p:nvCxnSpPr>
        <p:spPr>
          <a:xfrm>
            <a:off x="2066543" y="4640580"/>
            <a:ext cx="91441" cy="0"/>
          </a:xfrm>
          <a:prstGeom prst="line">
            <a:avLst/>
          </a:prstGeom>
          <a:ln w="17780">
            <a:solidFill>
              <a:srgbClr val="9A4A00"/>
            </a:solidFill>
            <a:tailEnd type="triangle" w="med" len="med"/>
          </a:ln>
        </p:spPr>
      </p:cxnSp>
      <p:sp>
        <p:nvSpPr>
          <p:cNvPr id="17418" name="Rounded Rectangle 17417"/>
          <p:cNvSpPr/>
          <p:nvPr/>
        </p:nvSpPr>
        <p:spPr>
          <a:xfrm>
            <a:off x="2157983" y="4206240"/>
            <a:ext cx="758951" cy="868680"/>
          </a:xfrm>
          <a:prstGeom prst="roundRect">
            <a:avLst>
              <a:gd name="adj" fmla="val 10000"/>
            </a:avLst>
          </a:prstGeom>
          <a:solidFill>
            <a:srgbClr val="FFF3E0"/>
          </a:solidFill>
          <a:ln w="12700">
            <a:solidFill>
              <a:srgbClr val="9A4A00"/>
            </a:solidFill>
          </a:ln>
          <a:effectLst/>
        </p:spPr>
        <p:txBody>
          <a:bodyPr rtlCol="0" anchor="ctr" wrap="square" lIns="36576" rIns="36576" tIns="27432" bIns="27432"/>
          <a:lstStyle/>
          <a:p>
            <a:pPr algn="ctr">
              <a:spcAft>
                <a:spcPts val="100"/>
              </a:spcAft>
            </a:pPr>
            <a:r>
              <a:rPr sz="850" b="1" i="0">
                <a:solidFill>
                  <a:srgbClr val="9A4A00"/>
                </a:solidFill>
                <a:latin typeface="Arial"/>
              </a:rPr>
              <a:t>Validate vs real block logs</a:t>
            </a:r>
          </a:p>
          <a:p>
            <a:pPr algn="ctr">
              <a:spcAft>
                <a:spcPts val="0"/>
              </a:spcAft>
            </a:pPr>
            <a:r>
              <a:rPr sz="750" b="0" i="0">
                <a:solidFill>
                  <a:srgbClr val="1A1A1A"/>
                </a:solidFill>
                <a:latin typeface="Arial"/>
              </a:rPr>
              <a:t>compare plans to actual outcomes</a:t>
            </a:r>
          </a:p>
        </p:txBody>
      </p:sp>
      <p:cxnSp>
        <p:nvCxnSpPr>
          <p:cNvPr id="17419" name="Connector 17418"/>
          <p:cNvCxnSpPr/>
          <p:nvPr/>
        </p:nvCxnSpPr>
        <p:spPr>
          <a:xfrm>
            <a:off x="2916935" y="4640580"/>
            <a:ext cx="91440" cy="0"/>
          </a:xfrm>
          <a:prstGeom prst="line">
            <a:avLst/>
          </a:prstGeom>
          <a:ln w="17780">
            <a:solidFill>
              <a:srgbClr val="9A4A00"/>
            </a:solidFill>
            <a:tailEnd type="triangle" w="med" len="med"/>
          </a:ln>
        </p:spPr>
      </p:cxnSp>
      <p:sp>
        <p:nvSpPr>
          <p:cNvPr id="17420" name="Rounded Rectangle 17419"/>
          <p:cNvSpPr/>
          <p:nvPr/>
        </p:nvSpPr>
        <p:spPr>
          <a:xfrm>
            <a:off x="3008375" y="4206240"/>
            <a:ext cx="758951" cy="868680"/>
          </a:xfrm>
          <a:prstGeom prst="roundRect">
            <a:avLst>
              <a:gd name="adj" fmla="val 10000"/>
            </a:avLst>
          </a:prstGeom>
          <a:solidFill>
            <a:srgbClr val="FFF3E0"/>
          </a:solidFill>
          <a:ln w="12700">
            <a:solidFill>
              <a:srgbClr val="9A4A00"/>
            </a:solidFill>
          </a:ln>
          <a:effectLst/>
        </p:spPr>
        <p:txBody>
          <a:bodyPr rtlCol="0" anchor="ctr" wrap="square" lIns="36576" rIns="36576" tIns="27432" bIns="27432"/>
          <a:lstStyle/>
          <a:p>
            <a:pPr algn="ctr">
              <a:spcAft>
                <a:spcPts val="100"/>
              </a:spcAft>
            </a:pPr>
            <a:r>
              <a:rPr sz="850" b="1" i="0">
                <a:solidFill>
                  <a:srgbClr val="9A4A00"/>
                </a:solidFill>
                <a:latin typeface="Arial"/>
              </a:rPr>
              <a:t>CRIS / system integration</a:t>
            </a:r>
          </a:p>
          <a:p>
            <a:pPr algn="ctr">
              <a:spcAft>
                <a:spcPts val="0"/>
              </a:spcAft>
            </a:pPr>
            <a:r>
              <a:rPr sz="750" b="0" i="0">
                <a:solidFill>
                  <a:srgbClr val="1A1A1A"/>
                </a:solidFill>
                <a:latin typeface="Arial"/>
              </a:rPr>
              <a:t>requires Railway Board and CRIS authorisation</a:t>
            </a:r>
          </a:p>
        </p:txBody>
      </p:sp>
      <p:cxnSp>
        <p:nvCxnSpPr>
          <p:cNvPr id="17421" name="Connector 17420"/>
          <p:cNvCxnSpPr/>
          <p:nvPr/>
        </p:nvCxnSpPr>
        <p:spPr>
          <a:xfrm>
            <a:off x="3767327" y="4640580"/>
            <a:ext cx="91440" cy="0"/>
          </a:xfrm>
          <a:prstGeom prst="line">
            <a:avLst/>
          </a:prstGeom>
          <a:ln w="17780">
            <a:solidFill>
              <a:srgbClr val="9A4A00"/>
            </a:solidFill>
            <a:tailEnd type="triangle" w="med" len="med"/>
          </a:ln>
        </p:spPr>
      </p:cxnSp>
      <p:sp>
        <p:nvSpPr>
          <p:cNvPr id="17422" name="Rounded Rectangle 17421"/>
          <p:cNvSpPr/>
          <p:nvPr/>
        </p:nvSpPr>
        <p:spPr>
          <a:xfrm>
            <a:off x="3858767" y="4206240"/>
            <a:ext cx="758951" cy="868680"/>
          </a:xfrm>
          <a:prstGeom prst="roundRect">
            <a:avLst>
              <a:gd name="adj" fmla="val 10000"/>
            </a:avLst>
          </a:prstGeom>
          <a:solidFill>
            <a:srgbClr val="FFF3E0"/>
          </a:solidFill>
          <a:ln w="12700">
            <a:solidFill>
              <a:srgbClr val="9A4A00"/>
            </a:solidFill>
          </a:ln>
          <a:effectLst/>
        </p:spPr>
        <p:txBody>
          <a:bodyPr rtlCol="0" anchor="ctr" wrap="square" lIns="36576" rIns="36576" tIns="27432" bIns="27432"/>
          <a:lstStyle/>
          <a:p>
            <a:pPr algn="ctr">
              <a:spcAft>
                <a:spcPts val="100"/>
              </a:spcAft>
            </a:pPr>
            <a:r>
              <a:rPr sz="850" b="1" i="0">
                <a:solidFill>
                  <a:srgbClr val="9A4A00"/>
                </a:solidFill>
                <a:latin typeface="Arial"/>
              </a:rPr>
              <a:t>Controlled rollout</a:t>
            </a:r>
          </a:p>
          <a:p>
            <a:pPr algn="ctr">
              <a:spcAft>
                <a:spcPts val="0"/>
              </a:spcAft>
            </a:pPr>
            <a:r>
              <a:rPr sz="750" b="0" i="0">
                <a:solidFill>
                  <a:srgbClr val="1A1A1A"/>
                </a:solidFill>
                <a:latin typeface="Arial"/>
              </a:rPr>
              <a:t>division by division</a:t>
            </a:r>
          </a:p>
        </p:txBody>
      </p:sp>
      <p:sp>
        <p:nvSpPr>
          <p:cNvPr id="17423" name="TextBox 17422"/>
          <p:cNvSpPr txBox="1"/>
          <p:nvPr/>
        </p:nvSpPr>
        <p:spPr>
          <a:xfrm>
            <a:off x="457200" y="5148072"/>
            <a:ext cx="4160520" cy="310896"/>
          </a:xfrm>
          <a:prstGeom prst="rect">
            <a:avLst/>
          </a:prstGeom>
          <a:noFill/>
        </p:spPr>
        <p:txBody>
          <a:bodyPr wrap="square" lIns="0" tIns="0" rIns="0" bIns="0" anchor="t"/>
          <a:lstStyle/>
          <a:p>
            <a:pPr algn="l" marL="0" indent="0">
              <a:buNone/>
            </a:pPr>
            <a:r>
              <a:rPr sz="850" b="1" i="0">
                <a:solidFill>
                  <a:srgbClr val="1F3864"/>
                </a:solidFill>
                <a:latin typeface="Arial"/>
              </a:rPr>
              <a:t>White </a:t>
            </a:r>
            <a:r>
              <a:rPr sz="850" b="0" i="0">
                <a:solidFill>
                  <a:srgbClr val="1A1A1A"/>
                </a:solidFill>
                <a:latin typeface="Arial"/>
              </a:rPr>
              <a:t>= exists in this prototype.  </a:t>
            </a:r>
            <a:r>
              <a:rPr sz="850" b="1" i="0">
                <a:solidFill>
                  <a:srgbClr val="9A4A00"/>
                </a:solidFill>
                <a:latin typeface="Arial"/>
              </a:rPr>
              <a:t>Amber </a:t>
            </a:r>
            <a:r>
              <a:rPr sz="850" b="0" i="0">
                <a:solidFill>
                  <a:srgbClr val="1A1A1A"/>
                </a:solidFill>
                <a:latin typeface="Arial"/>
              </a:rPr>
              <a:t>= needs Railway authorisation, or is a later phase.</a:t>
            </a:r>
          </a:p>
        </p:txBody>
      </p:sp>
      <p:sp>
        <p:nvSpPr>
          <p:cNvPr id="17424" name="Rectangle 17423"/>
          <p:cNvSpPr/>
          <p:nvPr/>
        </p:nvSpPr>
        <p:spPr>
          <a:xfrm>
            <a:off x="365760" y="5486400"/>
            <a:ext cx="4343400" cy="777240"/>
          </a:xfrm>
          <a:prstGeom prst="rect">
            <a:avLst/>
          </a:prstGeom>
          <a:solidFill>
            <a:srgbClr val="FFF3E0"/>
          </a:solidFill>
          <a:ln w="12700">
            <a:solidFill>
              <a:srgbClr val="9A4A00"/>
            </a:solidFill>
          </a:ln>
          <a:effectLst/>
        </p:spPr>
        <p:txBody>
          <a:bodyPr rtlCol="0" anchor="ctr"/>
          <a:lstStyle/>
          <a:p/>
        </p:txBody>
      </p:sp>
      <p:sp>
        <p:nvSpPr>
          <p:cNvPr id="17425" name="TextBox 17424"/>
          <p:cNvSpPr txBox="1"/>
          <p:nvPr/>
        </p:nvSpPr>
        <p:spPr>
          <a:xfrm>
            <a:off x="438912" y="5504688"/>
            <a:ext cx="4197096" cy="740664"/>
          </a:xfrm>
          <a:prstGeom prst="rect">
            <a:avLst/>
          </a:prstGeom>
          <a:noFill/>
        </p:spPr>
        <p:txBody>
          <a:bodyPr wrap="square" lIns="73152" rIns="73152" anchor="ctr"/>
          <a:lstStyle/>
          <a:p>
            <a:pPr algn="l" marL="0" indent="0">
              <a:buNone/>
            </a:pPr>
            <a:r>
              <a:rPr sz="950" b="1" i="0">
                <a:solidFill>
                  <a:srgbClr val="9A4A00"/>
                </a:solidFill>
                <a:latin typeface="Arial"/>
              </a:rPr>
              <a:t>We do not claim: </a:t>
            </a:r>
            <a:r>
              <a:rPr sz="950" b="0" i="0">
                <a:solidFill>
                  <a:srgbClr val="1A1A1A"/>
                </a:solidFill>
                <a:latin typeface="Arial"/>
              </a:rPr>
              <a:t>live Indian Railways data access, integration with TMS / SMMS / TDMS / COA, or deployment on Indian Railways. Data-sharing approval from CRIS and the Railway Board is required before any live feed.</a:t>
            </a:r>
          </a:p>
        </p:txBody>
      </p:sp>
      <p:graphicFrame>
        <p:nvGraphicFramePr>
          <p:cNvPr id="17426" name="Table 17425"/>
          <p:cNvGraphicFramePr>
            <a:graphicFrameLocks noGrp="1"/>
          </p:cNvGraphicFramePr>
          <p:nvPr/>
        </p:nvGraphicFramePr>
        <p:xfrm>
          <a:off x="4846320" y="1234440"/>
          <a:ext cx="6976872" cy="4992624"/>
        </p:xfrm>
        <a:graphic>
          <a:graphicData uri="http://schemas.openxmlformats.org/drawingml/2006/table">
            <a:tbl>
              <a:tblPr firstRow="1" bandRow="1">
                <a:tableStyleId>{5C22544A-7EE6-4342-B048-85BDC9FD1C3A}</a:tableStyleId>
              </a:tblPr>
              <a:tblGrid>
                <a:gridCol w="2788920"/>
                <a:gridCol w="4187952"/>
              </a:tblGrid>
              <a:tr h="384048">
                <a:tc>
                  <a:txBody>
                    <a:bodyPr wrap="square"/>
                    <a:lstStyle/>
                    <a:p>
                      <a:r>
                        <a:rPr sz="1200" b="1" i="0">
                          <a:solidFill>
                            <a:srgbClr val="FFFFFF"/>
                          </a:solidFill>
                          <a:latin typeface="Arial"/>
                        </a:rPr>
                        <a:t>Potential challenges and risks</a:t>
                      </a:r>
                    </a:p>
                  </a:txBody>
                  <a:tcPr marL="64008" marR="64008" marT="27432" marB="27432" anchor="ctr">
                    <a:solidFill>
                      <a:srgbClr val="1F3864"/>
                    </a:solidFill>
                  </a:tcPr>
                </a:tc>
                <a:tc>
                  <a:txBody>
                    <a:bodyPr wrap="square"/>
                    <a:lstStyle/>
                    <a:p>
                      <a:r>
                        <a:rPr sz="1200" b="1" i="0">
                          <a:solidFill>
                            <a:srgbClr val="FFFFFF"/>
                          </a:solidFill>
                          <a:latin typeface="Arial"/>
                        </a:rPr>
                        <a:t>Strategies for overcoming these challenges</a:t>
                      </a:r>
                    </a:p>
                  </a:txBody>
                  <a:tcPr marL="64008" marR="64008" marT="27432" marB="27432" anchor="ctr">
                    <a:solidFill>
                      <a:srgbClr val="1F3864"/>
                    </a:solidFill>
                  </a:tcPr>
                </a:tc>
              </a:tr>
              <a:tr h="576072">
                <a:tc>
                  <a:txBody>
                    <a:bodyPr wrap="square"/>
                    <a:lstStyle/>
                    <a:p>
                      <a:r>
                        <a:rPr sz="1050" b="0" i="0">
                          <a:solidFill>
                            <a:srgbClr val="1A1A1A"/>
                          </a:solidFill>
                          <a:latin typeface="Arial"/>
                        </a:rPr>
                        <a:t>No live feeds or real block logs: railway APIs are not public.</a:t>
                      </a:r>
                    </a:p>
                  </a:txBody>
                  <a:tcPr marL="64008" marR="64008" marT="27432" marB="27432" anchor="ctr">
                    <a:solidFill>
                      <a:srgbClr val="F7F9FC"/>
                    </a:solidFill>
                  </a:tcPr>
                </a:tc>
                <a:tc>
                  <a:txBody>
                    <a:bodyPr wrap="square"/>
                    <a:lstStyle/>
                    <a:p>
                      <a:r>
                        <a:rPr sz="1050" b="0" i="0">
                          <a:solidFill>
                            <a:srgbClr val="1A1A1A"/>
                          </a:solidFill>
                          <a:latin typeface="Arial"/>
                        </a:rPr>
                        <a:t>Adapters plus a synthetic corridor calibrated to CAG figures; rule-based safety tiers; ML on simulated data. Live feeds: roadmap.</a:t>
                      </a:r>
                    </a:p>
                  </a:txBody>
                  <a:tcPr marL="64008" marR="64008" marT="27432" marB="27432" anchor="ctr">
                    <a:solidFill>
                      <a:srgbClr val="F7F9FC"/>
                    </a:solidFill>
                  </a:tcPr>
                </a:tc>
              </a:tr>
              <a:tr h="576072">
                <a:tc>
                  <a:txBody>
                    <a:bodyPr wrap="square"/>
                    <a:lstStyle/>
                    <a:p>
                      <a:r>
                        <a:rPr sz="1050" b="0" i="0">
                          <a:solidFill>
                            <a:srgbClr val="1A1A1A"/>
                          </a:solidFill>
                          <a:latin typeface="Arial"/>
                        </a:rPr>
                        <a:t>Poor input data: CAG found TMS monitoring and modules not operational in audited zones (CAG 2022, 2018).</a:t>
                      </a:r>
                    </a:p>
                  </a:txBody>
                  <a:tcPr marL="64008" marR="64008" marT="27432" marB="27432" anchor="ctr">
                    <a:solidFill>
                      <a:srgbClr val="FFFFFF"/>
                    </a:solidFill>
                  </a:tcPr>
                </a:tc>
                <a:tc>
                  <a:txBody>
                    <a:bodyPr wrap="square"/>
                    <a:lstStyle/>
                    <a:p>
                      <a:r>
                        <a:rPr sz="1050" b="0" i="0">
                          <a:solidFill>
                            <a:srgbClr val="1A1A1A"/>
                          </a:solidFill>
                          <a:latin typeface="Arial"/>
                        </a:rPr>
                        <a:t>Freshness and confidence flag per record; low-confidence inputs need planner confirmation.</a:t>
                      </a:r>
                    </a:p>
                  </a:txBody>
                  <a:tcPr marL="64008" marR="64008" marT="27432" marB="27432" anchor="ctr">
                    <a:solidFill>
                      <a:srgbClr val="FFFFFF"/>
                    </a:solidFill>
                  </a:tcPr>
                </a:tc>
              </a:tr>
              <a:tr h="576072">
                <a:tc>
                  <a:txBody>
                    <a:bodyPr wrap="square"/>
                    <a:lstStyle/>
                    <a:p>
                      <a:r>
                        <a:rPr sz="1050" b="0" i="0">
                          <a:solidFill>
                            <a:srgbClr val="1A1A1A"/>
                          </a:solidFill>
                          <a:latin typeface="Arial"/>
                        </a:rPr>
                        <a:t>A job overruns its block and threatens a premium train.</a:t>
                      </a:r>
                    </a:p>
                  </a:txBody>
                  <a:tcPr marL="64008" marR="64008" marT="27432" marB="27432" anchor="ctr">
                    <a:solidFill>
                      <a:srgbClr val="F7F9FC"/>
                    </a:solidFill>
                  </a:tcPr>
                </a:tc>
                <a:tc>
                  <a:txBody>
                    <a:bodyPr wrap="square"/>
                    <a:lstStyle/>
                    <a:p>
                      <a:r>
                        <a:rPr sz="1050" b="0" i="0">
                          <a:solidFill>
                            <a:srgbClr val="1A1A1A"/>
                          </a:solidFill>
                          <a:latin typeface="Arial"/>
                        </a:rPr>
                        <a:t>Prevent: hard premium-train limits and a margin after each block. React (later phase): recompute open windows, recommend a re-plan; planner decides.</a:t>
                      </a:r>
                    </a:p>
                  </a:txBody>
                  <a:tcPr marL="64008" marR="64008" marT="27432" marB="27432" anchor="ctr">
                    <a:solidFill>
                      <a:srgbClr val="F7F9FC"/>
                    </a:solidFill>
                  </a:tcPr>
                </a:tc>
              </a:tr>
              <a:tr h="576072">
                <a:tc>
                  <a:txBody>
                    <a:bodyPr wrap="square"/>
                    <a:lstStyle/>
                    <a:p>
                      <a:r>
                        <a:rPr sz="1050" b="0" i="0">
                          <a:solidFill>
                            <a:srgbClr val="1A1A1A"/>
                          </a:solidFill>
                          <a:latin typeface="Arial"/>
                        </a:rPr>
                        <a:t>Block not given by Operating: 32% of idle machine-days (CAG 2022).</a:t>
                      </a:r>
                    </a:p>
                  </a:txBody>
                  <a:tcPr marL="64008" marR="64008" marT="27432" marB="27432" anchor="ctr">
                    <a:solidFill>
                      <a:srgbClr val="FFFFFF"/>
                    </a:solidFill>
                  </a:tcPr>
                </a:tc>
                <a:tc>
                  <a:txBody>
                    <a:bodyPr wrap="square"/>
                    <a:lstStyle/>
                    <a:p>
                      <a:r>
                        <a:rPr sz="1050" b="0" i="0">
                          <a:solidFill>
                            <a:srgbClr val="1A1A1A"/>
                          </a:solidFill>
                          <a:latin typeface="Arial"/>
                        </a:rPr>
                        <a:t>Re-plan with that block excluded; ranked fallback windows in a later phase.</a:t>
                      </a:r>
                    </a:p>
                  </a:txBody>
                  <a:tcPr marL="64008" marR="64008" marT="27432" marB="27432" anchor="ctr">
                    <a:solidFill>
                      <a:srgbClr val="FFFFFF"/>
                    </a:solidFill>
                  </a:tcPr>
                </a:tc>
              </a:tr>
              <a:tr h="576072">
                <a:tc>
                  <a:txBody>
                    <a:bodyPr wrap="square"/>
                    <a:lstStyle/>
                    <a:p>
                      <a:r>
                        <a:rPr sz="1050" b="0" i="0">
                          <a:solidFill>
                            <a:srgbClr val="1A1A1A"/>
                          </a:solidFill>
                          <a:latin typeface="Arial"/>
                        </a:rPr>
                        <a:t>Train priority policy differs by railway.</a:t>
                      </a:r>
                    </a:p>
                  </a:txBody>
                  <a:tcPr marL="64008" marR="64008" marT="27432" marB="27432" anchor="ctr">
                    <a:solidFill>
                      <a:srgbClr val="F7F9FC"/>
                    </a:solidFill>
                  </a:tcPr>
                </a:tc>
                <a:tc>
                  <a:txBody>
                    <a:bodyPr wrap="square"/>
                    <a:lstStyle/>
                    <a:p>
                      <a:r>
                        <a:rPr sz="1050" b="0" i="0">
                          <a:solidFill>
                            <a:srgbClr val="1A1A1A"/>
                          </a:solidFill>
                          <a:latin typeface="Arial"/>
                        </a:rPr>
                        <a:t>Train classes and priorities are configurable rules set by the railway authority; nothing is hard-coded.</a:t>
                      </a:r>
                    </a:p>
                  </a:txBody>
                  <a:tcPr marL="64008" marR="64008" marT="27432" marB="27432" anchor="ctr">
                    <a:solidFill>
                      <a:srgbClr val="F7F9FC"/>
                    </a:solidFill>
                  </a:tcPr>
                </a:tc>
              </a:tr>
              <a:tr h="576072">
                <a:tc>
                  <a:txBody>
                    <a:bodyPr wrap="square"/>
                    <a:lstStyle/>
                    <a:p>
                      <a:r>
                        <a:rPr sz="1050" b="0" i="0">
                          <a:solidFill>
                            <a:srgbClr val="1A1A1A"/>
                          </a:solidFill>
                          <a:latin typeface="Arial"/>
                        </a:rPr>
                        <a:t>Solver scalability: a monthly plan is a much larger problem than a week.</a:t>
                      </a:r>
                    </a:p>
                  </a:txBody>
                  <a:tcPr marL="64008" marR="64008" marT="27432" marB="27432" anchor="ctr">
                    <a:solidFill>
                      <a:srgbClr val="FFFFFF"/>
                    </a:solidFill>
                  </a:tcPr>
                </a:tc>
                <a:tc>
                  <a:txBody>
                    <a:bodyPr wrap="square"/>
                    <a:lstStyle/>
                    <a:p>
                      <a:r>
                        <a:rPr sz="1050" b="0" i="0">
                          <a:solidFill>
                            <a:srgbClr val="1A1A1A"/>
                          </a:solidFill>
                          <a:latin typeface="Arial"/>
                        </a:rPr>
                        <a:t>Rolling horizon: monthly reservations, weekly detail; time-limited solves from a greedy warm start.</a:t>
                      </a:r>
                    </a:p>
                  </a:txBody>
                  <a:tcPr marL="64008" marR="64008" marT="27432" marB="27432" anchor="ctr">
                    <a:solidFill>
                      <a:srgbClr val="FFFFFF"/>
                    </a:solidFill>
                  </a:tcPr>
                </a:tc>
              </a:tr>
              <a:tr h="576072">
                <a:tc>
                  <a:txBody>
                    <a:bodyPr wrap="square"/>
                    <a:lstStyle/>
                    <a:p>
                      <a:r>
                        <a:rPr sz="1050" b="0" i="0">
                          <a:solidFill>
                            <a:srgbClr val="1A1A1A"/>
                          </a:solidFill>
                          <a:latin typeface="Arial"/>
                        </a:rPr>
                        <a:t>Planners distrust or over-trust the plan.</a:t>
                      </a:r>
                    </a:p>
                  </a:txBody>
                  <a:tcPr marL="64008" marR="64008" marT="27432" marB="27432" anchor="ctr">
                    <a:solidFill>
                      <a:srgbClr val="F7F9FC"/>
                    </a:solidFill>
                  </a:tcPr>
                </a:tc>
                <a:tc>
                  <a:txBody>
                    <a:bodyPr wrap="square"/>
                    <a:lstStyle/>
                    <a:p>
                      <a:r>
                        <a:rPr sz="1050" b="0" i="0">
                          <a:solidFill>
                            <a:srgbClr val="1A1A1A"/>
                          </a:solidFill>
                          <a:latin typeface="Arial"/>
                        </a:rPr>
                        <a:t>Advisory only; reasons per placement; human approval; every override logged.</a:t>
                      </a:r>
                    </a:p>
                  </a:txBody>
                  <a:tcPr marL="64008" marR="64008" marT="27432" marB="27432" anchor="ctr">
                    <a:solidFill>
                      <a:srgbClr val="F7F9FC"/>
                    </a:solidFill>
                  </a:tcPr>
                </a:tc>
              </a:tr>
              <a:tr h="576072">
                <a:tc>
                  <a:txBody>
                    <a:bodyPr wrap="square"/>
                    <a:lstStyle/>
                    <a:p>
                      <a:r>
                        <a:rPr sz="1050" b="0" i="0">
                          <a:solidFill>
                            <a:srgbClr val="1A1A1A"/>
                          </a:solidFill>
                          <a:latin typeface="Arial"/>
                        </a:rPr>
                        <a:t>Scope exceeds the prototype window.</a:t>
                      </a:r>
                    </a:p>
                  </a:txBody>
                  <a:tcPr marL="64008" marR="64008" marT="27432" marB="27432" anchor="ctr">
                    <a:solidFill>
                      <a:srgbClr val="FFFFFF"/>
                    </a:solidFill>
                  </a:tcPr>
                </a:tc>
                <a:tc>
                  <a:txBody>
                    <a:bodyPr wrap="square"/>
                    <a:lstStyle/>
                    <a:p>
                      <a:r>
                        <a:rPr sz="1050" b="0" i="0">
                          <a:solidFill>
                            <a:srgbClr val="1A1A1A"/>
                          </a:solidFill>
                          <a:latin typeface="Arial"/>
                        </a:rPr>
                        <a:t>Prototype scope is fixed; later-phase features are cut first.</a:t>
                      </a:r>
                    </a:p>
                  </a:txBody>
                  <a:tcPr marL="64008" marR="64008" marT="27432" marB="27432" anchor="ctr">
                    <a:solidFill>
                      <a:srgbClr val="FFFFFF"/>
                    </a:solidFill>
                  </a:tcPr>
                </a:tc>
              </a:tr>
            </a:tbl>
          </a:graphicData>
        </a:graphic>
      </p:graphicFrame>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b="1" sz="1300"/>
              <a:t>InnoByte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Rectangle 17409"/>
          <p:cNvSpPr/>
          <p:nvPr/>
        </p:nvSpPr>
        <p:spPr>
          <a:xfrm>
            <a:off x="365760" y="1234440"/>
            <a:ext cx="5605272" cy="457200"/>
          </a:xfrm>
          <a:prstGeom prst="rect">
            <a:avLst/>
          </a:prstGeom>
          <a:solidFill>
            <a:srgbClr val="1F3864"/>
          </a:solidFill>
          <a:ln w="9525">
            <a:solidFill>
              <a:srgbClr val="1F3864"/>
            </a:solidFill>
          </a:ln>
          <a:effectLst/>
        </p:spPr>
        <p:txBody>
          <a:bodyPr rtlCol="0" anchor="ctr" wrap="square" lIns="109728" rIns="109728" tIns="36576" bIns="36576"/>
          <a:lstStyle/>
          <a:p>
            <a:pPr algn="l"/>
            <a:r>
              <a:rPr sz="1200" b="1" i="0">
                <a:solidFill>
                  <a:srgbClr val="FFFFFF"/>
                </a:solidFill>
                <a:latin typeface="Arial"/>
              </a:rPr>
              <a:t>Potential impact on the target audience</a:t>
            </a:r>
          </a:p>
        </p:txBody>
      </p:sp>
      <p:sp>
        <p:nvSpPr>
          <p:cNvPr id="17411" name="Rectangle 17410"/>
          <p:cNvSpPr/>
          <p:nvPr/>
        </p:nvSpPr>
        <p:spPr>
          <a:xfrm>
            <a:off x="6217920" y="1234440"/>
            <a:ext cx="5605272" cy="457200"/>
          </a:xfrm>
          <a:prstGeom prst="rect">
            <a:avLst/>
          </a:prstGeom>
          <a:solidFill>
            <a:srgbClr val="1F3864"/>
          </a:solidFill>
          <a:ln w="9525">
            <a:solidFill>
              <a:srgbClr val="1F3864"/>
            </a:solidFill>
          </a:ln>
          <a:effectLst/>
        </p:spPr>
        <p:txBody>
          <a:bodyPr rtlCol="0" anchor="ctr" wrap="square" lIns="109728" rIns="109728" tIns="36576" bIns="36576"/>
          <a:lstStyle/>
          <a:p>
            <a:pPr algn="l"/>
            <a:r>
              <a:rPr sz="1200" b="1" i="0">
                <a:solidFill>
                  <a:srgbClr val="FFFFFF"/>
                </a:solidFill>
                <a:latin typeface="Arial"/>
              </a:rPr>
              <a:t>Benefits of the solution (social, economic, environmental, etc.)</a:t>
            </a:r>
          </a:p>
        </p:txBody>
      </p:sp>
      <p:sp>
        <p:nvSpPr>
          <p:cNvPr id="17412" name="Rectangle 17411"/>
          <p:cNvSpPr/>
          <p:nvPr/>
        </p:nvSpPr>
        <p:spPr>
          <a:xfrm>
            <a:off x="365760" y="1691640"/>
            <a:ext cx="5605272" cy="2926080"/>
          </a:xfrm>
          <a:prstGeom prst="rect">
            <a:avLst/>
          </a:prstGeom>
          <a:solidFill>
            <a:srgbClr val="F7F9FC"/>
          </a:solidFill>
          <a:ln w="9525">
            <a:solidFill>
              <a:srgbClr val="C9D6E6"/>
            </a:solidFill>
          </a:ln>
          <a:effectLst/>
        </p:spPr>
        <p:txBody>
          <a:bodyPr rtlCol="0" anchor="ctr"/>
          <a:lstStyle/>
          <a:p/>
        </p:txBody>
      </p:sp>
      <p:sp>
        <p:nvSpPr>
          <p:cNvPr id="17413" name="Rectangle 17412"/>
          <p:cNvSpPr/>
          <p:nvPr/>
        </p:nvSpPr>
        <p:spPr>
          <a:xfrm>
            <a:off x="6217920" y="1691640"/>
            <a:ext cx="5605272" cy="2926080"/>
          </a:xfrm>
          <a:prstGeom prst="rect">
            <a:avLst/>
          </a:prstGeom>
          <a:solidFill>
            <a:srgbClr val="F7F9FC"/>
          </a:solidFill>
          <a:ln w="9525">
            <a:solidFill>
              <a:srgbClr val="C9D6E6"/>
            </a:solidFill>
          </a:ln>
          <a:effectLst/>
        </p:spPr>
        <p:txBody>
          <a:bodyPr rtlCol="0" anchor="ctr"/>
          <a:lstStyle/>
          <a:p/>
        </p:txBody>
      </p:sp>
      <p:sp>
        <p:nvSpPr>
          <p:cNvPr id="17414" name="TextBox 17413"/>
          <p:cNvSpPr txBox="1"/>
          <p:nvPr/>
        </p:nvSpPr>
        <p:spPr>
          <a:xfrm>
            <a:off x="384048" y="1737360"/>
            <a:ext cx="5568696" cy="1600200"/>
          </a:xfrm>
          <a:prstGeom prst="rect">
            <a:avLst/>
          </a:prstGeom>
          <a:noFill/>
        </p:spPr>
        <p:txBody>
          <a:bodyPr wrap="square" lIns="73152" rIns="73152" anchor="t"/>
          <a:lstStyle/>
          <a:p>
            <a:pPr algn="l" marL="155448" indent="-155448">
              <a:spcAft>
                <a:spcPts val="300"/>
              </a:spcAft>
              <a:buFont typeface="Arial"/>
              <a:buChar char="•"/>
            </a:pPr>
            <a:r>
              <a:rPr sz="1100" b="1" i="0">
                <a:solidFill>
                  <a:srgbClr val="1F3864"/>
                </a:solidFill>
                <a:latin typeface="Arial"/>
              </a:rPr>
              <a:t>Block planners (Engineering, S&amp;T, Traction): </a:t>
            </a:r>
            <a:r>
              <a:rPr sz="1100" b="0" i="0">
                <a:solidFill>
                  <a:srgbClr val="1A1A1A"/>
                </a:solidFill>
                <a:latin typeface="Arial"/>
              </a:rPr>
              <a:t>one joint plan instead of three demand cycles.</a:t>
            </a:r>
          </a:p>
          <a:p>
            <a:pPr algn="l" marL="155448" indent="-155448">
              <a:spcAft>
                <a:spcPts val="300"/>
              </a:spcAft>
              <a:buFont typeface="Arial"/>
              <a:buChar char="•"/>
            </a:pPr>
            <a:r>
              <a:rPr sz="1100" b="1" i="0">
                <a:solidFill>
                  <a:srgbClr val="1F3864"/>
                </a:solidFill>
                <a:latin typeface="Arial"/>
              </a:rPr>
              <a:t>Operating and control office: </a:t>
            </a:r>
            <a:r>
              <a:rPr sz="1100" b="0" i="0">
                <a:solidFill>
                  <a:srgbClr val="1A1A1A"/>
                </a:solidFill>
                <a:latin typeface="Arial"/>
              </a:rPr>
              <a:t>sees </a:t>
            </a:r>
            <a:r>
              <a:rPr sz="1100" b="1" i="0">
                <a:solidFill>
                  <a:srgbClr val="1A1A1A"/>
                </a:solidFill>
                <a:latin typeface="Arial"/>
              </a:rPr>
              <a:t>train-delay cost by class</a:t>
            </a:r>
            <a:r>
              <a:rPr sz="1100" b="0" i="0">
                <a:solidFill>
                  <a:srgbClr val="1A1A1A"/>
                </a:solidFill>
                <a:latin typeface="Arial"/>
              </a:rPr>
              <a:t> before granting.</a:t>
            </a:r>
          </a:p>
          <a:p>
            <a:pPr algn="l" marL="155448" indent="-155448">
              <a:spcAft>
                <a:spcPts val="300"/>
              </a:spcAft>
              <a:buFont typeface="Arial"/>
              <a:buChar char="•"/>
            </a:pPr>
            <a:r>
              <a:rPr sz="1100" b="1" i="0">
                <a:solidFill>
                  <a:srgbClr val="1F3864"/>
                </a:solidFill>
                <a:latin typeface="Arial"/>
              </a:rPr>
              <a:t>Crews and depots: </a:t>
            </a:r>
            <a:r>
              <a:rPr sz="1100" b="0" i="0">
                <a:solidFill>
                  <a:srgbClr val="1A1A1A"/>
                </a:solidFill>
                <a:latin typeface="Arial"/>
              </a:rPr>
              <a:t>fewer repeated night blocks and idle machine-days (expected).</a:t>
            </a:r>
          </a:p>
          <a:p>
            <a:pPr algn="l" marL="155448" indent="-155448">
              <a:spcAft>
                <a:spcPts val="0"/>
              </a:spcAft>
              <a:buFont typeface="Arial"/>
              <a:buChar char="•"/>
            </a:pPr>
            <a:r>
              <a:rPr sz="1100" b="1" i="0">
                <a:solidFill>
                  <a:srgbClr val="1F3864"/>
                </a:solidFill>
                <a:latin typeface="Arial"/>
              </a:rPr>
              <a:t>Passengers and freight customers: </a:t>
            </a:r>
            <a:r>
              <a:rPr sz="1100" b="0" i="0">
                <a:solidFill>
                  <a:srgbClr val="1A1A1A"/>
                </a:solidFill>
                <a:latin typeface="Arial"/>
              </a:rPr>
              <a:t>timelier defect clearance. Track maintenance was cited in </a:t>
            </a:r>
            <a:r>
              <a:rPr sz="1100" b="1" i="0">
                <a:solidFill>
                  <a:srgbClr val="1A1A1A"/>
                </a:solidFill>
                <a:latin typeface="Arial"/>
              </a:rPr>
              <a:t>167 of 395</a:t>
            </a:r>
            <a:r>
              <a:rPr sz="1100" b="0" i="0">
                <a:solidFill>
                  <a:srgbClr val="1A1A1A"/>
                </a:solidFill>
                <a:latin typeface="Arial"/>
              </a:rPr>
              <a:t> Engineering-attributed derailment inquiry reports (CAG 2022, Table 3.3.1).</a:t>
            </a:r>
          </a:p>
        </p:txBody>
      </p:sp>
      <p:sp>
        <p:nvSpPr>
          <p:cNvPr id="17415" name="TextBox 17414"/>
          <p:cNvSpPr txBox="1"/>
          <p:nvPr/>
        </p:nvSpPr>
        <p:spPr>
          <a:xfrm>
            <a:off x="411480" y="3200400"/>
            <a:ext cx="5422392" cy="219456"/>
          </a:xfrm>
          <a:prstGeom prst="rect">
            <a:avLst/>
          </a:prstGeom>
          <a:noFill/>
        </p:spPr>
        <p:txBody>
          <a:bodyPr wrap="square" lIns="73152" rIns="73152" anchor="t"/>
          <a:lstStyle/>
          <a:p>
            <a:pPr algn="l" marL="0" indent="0">
              <a:buNone/>
            </a:pPr>
            <a:r>
              <a:rPr sz="1000" b="1" i="0">
                <a:solidFill>
                  <a:srgbClr val="1F3864"/>
                </a:solidFill>
                <a:latin typeface="Arial"/>
              </a:rPr>
              <a:t>Available track-machine days, 2017–21 (517 machines)</a:t>
            </a:r>
          </a:p>
        </p:txBody>
      </p:sp>
      <p:sp>
        <p:nvSpPr>
          <p:cNvPr id="17416" name="Rectangle 17415"/>
          <p:cNvSpPr/>
          <p:nvPr/>
        </p:nvSpPr>
        <p:spPr>
          <a:xfrm>
            <a:off x="502920" y="3438144"/>
            <a:ext cx="4482492" cy="256032"/>
          </a:xfrm>
          <a:prstGeom prst="rect">
            <a:avLst/>
          </a:prstGeom>
          <a:solidFill>
            <a:srgbClr val="8FA8C8"/>
          </a:solidFill>
          <a:ln w="9525">
            <a:solidFill>
              <a:srgbClr val="FFFFFF"/>
            </a:solidFill>
          </a:ln>
          <a:effectLst/>
        </p:spPr>
        <p:txBody>
          <a:bodyPr rtlCol="0" anchor="ctr" wrap="square" lIns="9144" rIns="9144" tIns="27432" bIns="27432"/>
          <a:lstStyle/>
          <a:p>
            <a:pPr algn="ctr">
              <a:spcAft>
                <a:spcPts val="0"/>
              </a:spcAft>
            </a:pPr>
            <a:r>
              <a:rPr sz="1000" b="1" i="0">
                <a:solidFill>
                  <a:srgbClr val="1A1A1A"/>
                </a:solidFill>
                <a:latin typeface="Arial"/>
              </a:rPr>
              <a:t>Used 84.1%</a:t>
            </a:r>
          </a:p>
        </p:txBody>
      </p:sp>
      <p:sp>
        <p:nvSpPr>
          <p:cNvPr id="17417" name="Rectangle 17416"/>
          <p:cNvSpPr/>
          <p:nvPr/>
        </p:nvSpPr>
        <p:spPr>
          <a:xfrm>
            <a:off x="4985412" y="3438144"/>
            <a:ext cx="325604" cy="256032"/>
          </a:xfrm>
          <a:prstGeom prst="rect">
            <a:avLst/>
          </a:prstGeom>
          <a:solidFill>
            <a:srgbClr val="D5DEEA"/>
          </a:solidFill>
          <a:ln w="9525">
            <a:solidFill>
              <a:srgbClr val="FFFFFF"/>
            </a:solidFill>
          </a:ln>
          <a:effectLst/>
        </p:spPr>
        <p:txBody>
          <a:bodyPr rtlCol="0" anchor="ctr"/>
          <a:lstStyle/>
          <a:p/>
        </p:txBody>
      </p:sp>
      <p:sp>
        <p:nvSpPr>
          <p:cNvPr id="17418" name="Rectangle 17417"/>
          <p:cNvSpPr/>
          <p:nvPr/>
        </p:nvSpPr>
        <p:spPr>
          <a:xfrm>
            <a:off x="5311017" y="3438144"/>
            <a:ext cx="522854" cy="256032"/>
          </a:xfrm>
          <a:prstGeom prst="rect">
            <a:avLst/>
          </a:prstGeom>
          <a:solidFill>
            <a:srgbClr val="0070C0"/>
          </a:solidFill>
          <a:ln w="9525">
            <a:solidFill>
              <a:srgbClr val="FFFFFF"/>
            </a:solidFill>
          </a:ln>
          <a:effectLst/>
        </p:spPr>
        <p:txBody>
          <a:bodyPr rtlCol="0" anchor="ctr" wrap="square" lIns="9144" rIns="9144" tIns="27432" bIns="27432"/>
          <a:lstStyle/>
          <a:p>
            <a:pPr algn="ctr">
              <a:spcAft>
                <a:spcPts val="0"/>
              </a:spcAft>
            </a:pPr>
            <a:r>
              <a:rPr sz="1000" b="1" i="0">
                <a:solidFill>
                  <a:srgbClr val="FFFFFF"/>
                </a:solidFill>
                <a:latin typeface="Arial"/>
              </a:rPr>
              <a:t>9.8%</a:t>
            </a:r>
          </a:p>
        </p:txBody>
      </p:sp>
      <p:sp>
        <p:nvSpPr>
          <p:cNvPr id="17419" name="TextBox 17418"/>
          <p:cNvSpPr txBox="1"/>
          <p:nvPr/>
        </p:nvSpPr>
        <p:spPr>
          <a:xfrm>
            <a:off x="411480" y="3712464"/>
            <a:ext cx="5422392" cy="868680"/>
          </a:xfrm>
          <a:prstGeom prst="rect">
            <a:avLst/>
          </a:prstGeom>
          <a:noFill/>
        </p:spPr>
        <p:txBody>
          <a:bodyPr wrap="square" lIns="73152" rIns="73152" anchor="t"/>
          <a:lstStyle/>
          <a:p>
            <a:pPr algn="l" marL="0" indent="0">
              <a:spcAft>
                <a:spcPts val="300"/>
              </a:spcAft>
              <a:buNone/>
            </a:pPr>
            <a:r>
              <a:rPr sz="900" b="1" i="0">
                <a:solidFill>
                  <a:srgbClr val="0070C0"/>
                </a:solidFill>
                <a:latin typeface="Arial"/>
              </a:rPr>
              <a:t>9.8% idle for blocks not given or not planned </a:t>
            </a:r>
            <a:r>
              <a:rPr sz="900" b="0" i="0">
                <a:solidFill>
                  <a:srgbClr val="595959"/>
                </a:solidFill>
                <a:latin typeface="Arial"/>
              </a:rPr>
              <a:t>(CAG 2022, Table 2.4.1) — </a:t>
            </a:r>
            <a:r>
              <a:rPr sz="900" b="1" i="0">
                <a:solidFill>
                  <a:srgbClr val="9A4A00"/>
                </a:solidFill>
                <a:latin typeface="Arial"/>
              </a:rPr>
              <a:t>baseline evidence, not a result produced by our system.</a:t>
            </a:r>
          </a:p>
          <a:p>
            <a:pPr algn="l" marL="0" indent="0">
              <a:buNone/>
            </a:pPr>
            <a:r>
              <a:rPr sz="900" b="1" i="0">
                <a:solidFill>
                  <a:srgbClr val="1F3864"/>
                </a:solidFill>
                <a:latin typeface="Arial"/>
              </a:rPr>
              <a:t>Baseline loss X = 9.8%.  </a:t>
            </a:r>
            <a:r>
              <a:rPr sz="900" b="0" i="0">
                <a:solidFill>
                  <a:srgbClr val="1A1A1A"/>
                </a:solidFill>
                <a:latin typeface="Arial"/>
              </a:rPr>
              <a:t>Loss Y: from our own backtest, once run.  </a:t>
            </a:r>
            <a:r>
              <a:rPr sz="900" b="1" i="0">
                <a:solidFill>
                  <a:srgbClr val="1F3864"/>
                </a:solidFill>
                <a:latin typeface="Arial"/>
              </a:rPr>
              <a:t>Improvement = (X − Y) ÷ X.</a:t>
            </a:r>
          </a:p>
        </p:txBody>
      </p:sp>
      <p:sp>
        <p:nvSpPr>
          <p:cNvPr id="17420" name="Rectangle 17419"/>
          <p:cNvSpPr/>
          <p:nvPr/>
        </p:nvSpPr>
        <p:spPr>
          <a:xfrm>
            <a:off x="6309360" y="1764792"/>
            <a:ext cx="5422392" cy="749808"/>
          </a:xfrm>
          <a:prstGeom prst="rect">
            <a:avLst/>
          </a:prstGeom>
          <a:solidFill>
            <a:srgbClr val="1F3864"/>
          </a:solidFill>
          <a:ln w="9525">
            <a:solidFill>
              <a:srgbClr val="1F3864"/>
            </a:solidFill>
          </a:ln>
          <a:effectLst/>
        </p:spPr>
        <p:txBody>
          <a:bodyPr rtlCol="0" anchor="ctr" wrap="square" tIns="27432" bIns="27432"/>
          <a:lstStyle/>
          <a:p>
            <a:pPr algn="ctr">
              <a:spcAft>
                <a:spcPts val="200"/>
              </a:spcAft>
            </a:pPr>
            <a:r>
              <a:rPr sz="1300" b="1" i="0">
                <a:solidFill>
                  <a:srgbClr val="FFFFFF"/>
                </a:solidFill>
                <a:latin typeface="Arial"/>
              </a:rPr>
              <a:t>Headline KPI: asset availability</a:t>
            </a:r>
          </a:p>
          <a:p>
            <a:pPr algn="ctr">
              <a:spcAft>
                <a:spcPts val="0"/>
              </a:spcAft>
            </a:pPr>
            <a:r>
              <a:rPr sz="1000" b="0" i="0">
                <a:solidFill>
                  <a:srgbClr val="FFFFFF"/>
                </a:solidFill>
                <a:latin typeface="Arial"/>
              </a:rPr>
              <a:t>= 1 − maintenance-induced downtime ÷ total asset-hours, against a siloed-planning baseline</a:t>
            </a:r>
          </a:p>
        </p:txBody>
      </p:sp>
      <p:sp>
        <p:nvSpPr>
          <p:cNvPr id="17421" name="TextBox 17420"/>
          <p:cNvSpPr txBox="1"/>
          <p:nvPr/>
        </p:nvSpPr>
        <p:spPr>
          <a:xfrm>
            <a:off x="6236208" y="2542032"/>
            <a:ext cx="5568696" cy="237744"/>
          </a:xfrm>
          <a:prstGeom prst="rect">
            <a:avLst/>
          </a:prstGeom>
          <a:noFill/>
        </p:spPr>
        <p:txBody>
          <a:bodyPr wrap="square" lIns="73152" rIns="73152" anchor="t"/>
          <a:lstStyle/>
          <a:p>
            <a:pPr algn="l" marL="0" indent="0">
              <a:buNone/>
            </a:pPr>
            <a:r>
              <a:rPr sz="1050" b="1" i="0">
                <a:solidFill>
                  <a:srgbClr val="9A4A00"/>
                </a:solidFill>
                <a:latin typeface="Arial"/>
              </a:rPr>
              <a:t>No result is claimed yet. </a:t>
            </a:r>
            <a:r>
              <a:rPr sz="1050" b="0" i="0">
                <a:solidFill>
                  <a:srgbClr val="1A1A1A"/>
                </a:solidFill>
                <a:latin typeface="Arial"/>
              </a:rPr>
              <a:t>Supporting metrics, measured in the backtest:</a:t>
            </a:r>
          </a:p>
        </p:txBody>
      </p:sp>
      <p:sp>
        <p:nvSpPr>
          <p:cNvPr id="17422" name="Rounded Rectangle 17421"/>
          <p:cNvSpPr/>
          <p:nvPr/>
        </p:nvSpPr>
        <p:spPr>
          <a:xfrm>
            <a:off x="6309360" y="2816352"/>
            <a:ext cx="1719072" cy="384048"/>
          </a:xfrm>
          <a:prstGeom prst="roundRect">
            <a:avLst>
              <a:gd name="adj" fmla="val 12000"/>
            </a:avLst>
          </a:prstGeom>
          <a:solidFill>
            <a:srgbClr val="FFFFFF"/>
          </a:solidFill>
          <a:ln w="12700">
            <a:solidFill>
              <a:srgbClr val="1F3864"/>
            </a:solidFill>
          </a:ln>
          <a:effectLst/>
        </p:spPr>
        <p:txBody>
          <a:bodyPr rtlCol="0" anchor="ctr" wrap="square" lIns="36576" rIns="36576" tIns="27432" bIns="27432"/>
          <a:lstStyle/>
          <a:p>
            <a:pPr algn="ctr">
              <a:spcAft>
                <a:spcPts val="0"/>
              </a:spcAft>
            </a:pPr>
            <a:r>
              <a:rPr sz="950" b="1" i="0">
                <a:solidFill>
                  <a:srgbClr val="1F3864"/>
                </a:solidFill>
                <a:latin typeface="Arial"/>
              </a:rPr>
              <a:t>Downtime (asset-hours per week)</a:t>
            </a:r>
          </a:p>
        </p:txBody>
      </p:sp>
      <p:sp>
        <p:nvSpPr>
          <p:cNvPr id="17423" name="Rounded Rectangle 17422"/>
          <p:cNvSpPr/>
          <p:nvPr/>
        </p:nvSpPr>
        <p:spPr>
          <a:xfrm>
            <a:off x="8119872" y="2816352"/>
            <a:ext cx="1719072" cy="384048"/>
          </a:xfrm>
          <a:prstGeom prst="roundRect">
            <a:avLst>
              <a:gd name="adj" fmla="val 12000"/>
            </a:avLst>
          </a:prstGeom>
          <a:solidFill>
            <a:srgbClr val="FFFFFF"/>
          </a:solidFill>
          <a:ln w="12700">
            <a:solidFill>
              <a:srgbClr val="1F3864"/>
            </a:solidFill>
          </a:ln>
          <a:effectLst/>
        </p:spPr>
        <p:txBody>
          <a:bodyPr rtlCol="0" anchor="ctr" wrap="square" lIns="36576" rIns="36576" tIns="27432" bIns="27432"/>
          <a:lstStyle/>
          <a:p>
            <a:pPr algn="ctr">
              <a:spcAft>
                <a:spcPts val="0"/>
              </a:spcAft>
            </a:pPr>
            <a:r>
              <a:rPr sz="950" b="1" i="0">
                <a:solidFill>
                  <a:srgbClr val="1F3864"/>
                </a:solidFill>
                <a:latin typeface="Arial"/>
              </a:rPr>
              <a:t>Blocks per 100 tasks</a:t>
            </a:r>
          </a:p>
        </p:txBody>
      </p:sp>
      <p:sp>
        <p:nvSpPr>
          <p:cNvPr id="17424" name="Rounded Rectangle 17423"/>
          <p:cNvSpPr/>
          <p:nvPr/>
        </p:nvSpPr>
        <p:spPr>
          <a:xfrm>
            <a:off x="9930384" y="2816352"/>
            <a:ext cx="1719072" cy="384048"/>
          </a:xfrm>
          <a:prstGeom prst="roundRect">
            <a:avLst>
              <a:gd name="adj" fmla="val 12000"/>
            </a:avLst>
          </a:prstGeom>
          <a:solidFill>
            <a:srgbClr val="FFFFFF"/>
          </a:solidFill>
          <a:ln w="12700">
            <a:solidFill>
              <a:srgbClr val="1F3864"/>
            </a:solidFill>
          </a:ln>
          <a:effectLst/>
        </p:spPr>
        <p:txBody>
          <a:bodyPr rtlCol="0" anchor="ctr" wrap="square" lIns="36576" rIns="36576" tIns="27432" bIns="27432"/>
          <a:lstStyle/>
          <a:p>
            <a:pPr algn="ctr">
              <a:spcAft>
                <a:spcPts val="0"/>
              </a:spcAft>
            </a:pPr>
            <a:r>
              <a:rPr sz="950" b="1" i="0">
                <a:solidFill>
                  <a:srgbClr val="1F3864"/>
                </a:solidFill>
                <a:latin typeface="Arial"/>
              </a:rPr>
              <a:t>Work-minutes per blocked minute</a:t>
            </a:r>
          </a:p>
        </p:txBody>
      </p:sp>
      <p:sp>
        <p:nvSpPr>
          <p:cNvPr id="17425" name="Rounded Rectangle 17424"/>
          <p:cNvSpPr/>
          <p:nvPr/>
        </p:nvSpPr>
        <p:spPr>
          <a:xfrm>
            <a:off x="6309360" y="3255264"/>
            <a:ext cx="1719072" cy="384048"/>
          </a:xfrm>
          <a:prstGeom prst="roundRect">
            <a:avLst>
              <a:gd name="adj" fmla="val 12000"/>
            </a:avLst>
          </a:prstGeom>
          <a:solidFill>
            <a:srgbClr val="FFFFFF"/>
          </a:solidFill>
          <a:ln w="12700">
            <a:solidFill>
              <a:srgbClr val="1F3864"/>
            </a:solidFill>
          </a:ln>
          <a:effectLst/>
        </p:spPr>
        <p:txBody>
          <a:bodyPr rtlCol="0" anchor="ctr" wrap="square" lIns="36576" rIns="36576" tIns="27432" bIns="27432"/>
          <a:lstStyle/>
          <a:p>
            <a:pPr algn="ctr">
              <a:spcAft>
                <a:spcPts val="0"/>
              </a:spcAft>
            </a:pPr>
            <a:r>
              <a:rPr sz="950" b="1" i="0">
                <a:solidFill>
                  <a:srgbClr val="1F3864"/>
                </a:solidFill>
                <a:latin typeface="Arial"/>
              </a:rPr>
              <a:t>Class-weighted train delay</a:t>
            </a:r>
          </a:p>
        </p:txBody>
      </p:sp>
      <p:sp>
        <p:nvSpPr>
          <p:cNvPr id="17426" name="Rounded Rectangle 17425"/>
          <p:cNvSpPr/>
          <p:nvPr/>
        </p:nvSpPr>
        <p:spPr>
          <a:xfrm>
            <a:off x="8119872" y="3255264"/>
            <a:ext cx="1719072" cy="384048"/>
          </a:xfrm>
          <a:prstGeom prst="roundRect">
            <a:avLst>
              <a:gd name="adj" fmla="val 12000"/>
            </a:avLst>
          </a:prstGeom>
          <a:solidFill>
            <a:srgbClr val="FFFFFF"/>
          </a:solidFill>
          <a:ln w="12700">
            <a:solidFill>
              <a:srgbClr val="1F3864"/>
            </a:solidFill>
          </a:ln>
          <a:effectLst/>
        </p:spPr>
        <p:txBody>
          <a:bodyPr rtlCol="0" anchor="ctr" wrap="square" lIns="36576" rIns="36576" tIns="27432" bIns="27432"/>
          <a:lstStyle/>
          <a:p>
            <a:pPr algn="ctr">
              <a:spcAft>
                <a:spcPts val="0"/>
              </a:spcAft>
            </a:pPr>
            <a:r>
              <a:rPr sz="950" b="1" i="0">
                <a:solidFill>
                  <a:srgbClr val="1F3864"/>
                </a:solidFill>
                <a:latin typeface="Arial"/>
              </a:rPr>
              <a:t>Critical backlog clearance time</a:t>
            </a:r>
          </a:p>
        </p:txBody>
      </p:sp>
      <p:sp>
        <p:nvSpPr>
          <p:cNvPr id="17427" name="Rounded Rectangle 17426"/>
          <p:cNvSpPr/>
          <p:nvPr/>
        </p:nvSpPr>
        <p:spPr>
          <a:xfrm>
            <a:off x="9930384" y="3255264"/>
            <a:ext cx="1719072" cy="384048"/>
          </a:xfrm>
          <a:prstGeom prst="roundRect">
            <a:avLst>
              <a:gd name="adj" fmla="val 12000"/>
            </a:avLst>
          </a:prstGeom>
          <a:solidFill>
            <a:srgbClr val="FFFFFF"/>
          </a:solidFill>
          <a:ln w="12700">
            <a:solidFill>
              <a:srgbClr val="1F3864"/>
            </a:solidFill>
          </a:ln>
          <a:effectLst/>
        </p:spPr>
        <p:txBody>
          <a:bodyPr rtlCol="0" anchor="ctr" wrap="square" lIns="36576" rIns="36576" tIns="27432" bIns="27432"/>
          <a:lstStyle/>
          <a:p>
            <a:pPr algn="ctr">
              <a:spcAft>
                <a:spcPts val="0"/>
              </a:spcAft>
            </a:pPr>
            <a:r>
              <a:rPr sz="950" b="1" i="0">
                <a:solidFill>
                  <a:srgbClr val="1F3864"/>
                </a:solidFill>
                <a:latin typeface="Arial"/>
              </a:rPr>
              <a:t>Plan churn</a:t>
            </a:r>
          </a:p>
        </p:txBody>
      </p:sp>
      <p:sp>
        <p:nvSpPr>
          <p:cNvPr id="17428" name="TextBox 17427"/>
          <p:cNvSpPr txBox="1"/>
          <p:nvPr/>
        </p:nvSpPr>
        <p:spPr>
          <a:xfrm>
            <a:off x="6236208" y="3703320"/>
            <a:ext cx="5568696" cy="914400"/>
          </a:xfrm>
          <a:prstGeom prst="rect">
            <a:avLst/>
          </a:prstGeom>
          <a:noFill/>
        </p:spPr>
        <p:txBody>
          <a:bodyPr wrap="square" lIns="73152" rIns="73152" anchor="t"/>
          <a:lstStyle/>
          <a:p>
            <a:pPr algn="l" marL="155448" indent="-155448">
              <a:spcAft>
                <a:spcPts val="200"/>
              </a:spcAft>
              <a:buFont typeface="Arial"/>
              <a:buChar char="•"/>
            </a:pPr>
            <a:r>
              <a:rPr sz="1050" b="1" i="0">
                <a:solidFill>
                  <a:srgbClr val="1F3864"/>
                </a:solidFill>
                <a:latin typeface="Arial"/>
              </a:rPr>
              <a:t>Economic: </a:t>
            </a:r>
            <a:r>
              <a:rPr sz="1050" b="0" i="0">
                <a:solidFill>
                  <a:srgbClr val="1A1A1A"/>
                </a:solidFill>
                <a:latin typeface="Arial"/>
              </a:rPr>
              <a:t>more usable maintenance time per granted block; fewer idle machine-days. Expected.</a:t>
            </a:r>
          </a:p>
          <a:p>
            <a:pPr algn="l" marL="155448" indent="-155448">
              <a:spcAft>
                <a:spcPts val="200"/>
              </a:spcAft>
              <a:buFont typeface="Arial"/>
              <a:buChar char="•"/>
            </a:pPr>
            <a:r>
              <a:rPr sz="1050" b="1" i="0">
                <a:solidFill>
                  <a:srgbClr val="1F3864"/>
                </a:solidFill>
                <a:latin typeface="Arial"/>
              </a:rPr>
              <a:t>Social and safety: </a:t>
            </a:r>
            <a:r>
              <a:rPr sz="1050" b="0" i="0">
                <a:solidFill>
                  <a:srgbClr val="1A1A1A"/>
                </a:solidFill>
                <a:latin typeface="Arial"/>
              </a:rPr>
              <a:t>timelier clearance of overdue safety-critical defects. Expected.</a:t>
            </a:r>
          </a:p>
          <a:p>
            <a:pPr algn="l" marL="155448" indent="-155448">
              <a:spcAft>
                <a:spcPts val="0"/>
              </a:spcAft>
              <a:buFont typeface="Arial"/>
              <a:buChar char="•"/>
            </a:pPr>
            <a:r>
              <a:rPr sz="1050" b="1" i="0">
                <a:solidFill>
                  <a:srgbClr val="1F3864"/>
                </a:solidFill>
                <a:latin typeface="Arial"/>
              </a:rPr>
              <a:t>Environmental: </a:t>
            </a:r>
            <a:r>
              <a:rPr sz="1050" b="0" i="0">
                <a:solidFill>
                  <a:srgbClr val="1A1A1A"/>
                </a:solidFill>
                <a:latin typeface="Arial"/>
              </a:rPr>
              <a:t>no effect claimed.</a:t>
            </a:r>
          </a:p>
        </p:txBody>
      </p:sp>
      <p:sp>
        <p:nvSpPr>
          <p:cNvPr id="17429" name="Rectangle 17428"/>
          <p:cNvSpPr/>
          <p:nvPr/>
        </p:nvSpPr>
        <p:spPr>
          <a:xfrm>
            <a:off x="365760" y="4727448"/>
            <a:ext cx="11457432" cy="1536192"/>
          </a:xfrm>
          <a:prstGeom prst="rect">
            <a:avLst/>
          </a:prstGeom>
          <a:solidFill>
            <a:srgbClr val="FFF3E0"/>
          </a:solidFill>
          <a:ln w="12700">
            <a:solidFill>
              <a:srgbClr val="9A4A00"/>
            </a:solidFill>
          </a:ln>
          <a:effectLst/>
        </p:spPr>
        <p:txBody>
          <a:bodyPr rtlCol="0" anchor="ctr"/>
          <a:lstStyle/>
          <a:p/>
        </p:txBody>
      </p:sp>
      <p:sp>
        <p:nvSpPr>
          <p:cNvPr id="17430" name="TextBox 17429"/>
          <p:cNvSpPr txBox="1"/>
          <p:nvPr/>
        </p:nvSpPr>
        <p:spPr>
          <a:xfrm>
            <a:off x="457200" y="4754880"/>
            <a:ext cx="11247120" cy="310896"/>
          </a:xfrm>
          <a:prstGeom prst="rect">
            <a:avLst/>
          </a:prstGeom>
          <a:noFill/>
        </p:spPr>
        <p:txBody>
          <a:bodyPr wrap="square" lIns="73152" rIns="73152" anchor="t"/>
          <a:lstStyle/>
          <a:p>
            <a:pPr algn="l" marL="0" indent="0">
              <a:buNone/>
            </a:pPr>
            <a:r>
              <a:rPr sz="1250" b="1" i="0">
                <a:solidFill>
                  <a:srgbClr val="9A4A00"/>
                </a:solidFill>
                <a:latin typeface="Arial"/>
              </a:rPr>
              <a:t>Trade-offs and who could be disrupted</a:t>
            </a:r>
          </a:p>
        </p:txBody>
      </p:sp>
      <p:sp>
        <p:nvSpPr>
          <p:cNvPr id="17431" name="TextBox 17430"/>
          <p:cNvSpPr txBox="1"/>
          <p:nvPr/>
        </p:nvSpPr>
        <p:spPr>
          <a:xfrm>
            <a:off x="457200" y="5074920"/>
            <a:ext cx="5532120" cy="1170432"/>
          </a:xfrm>
          <a:prstGeom prst="rect">
            <a:avLst/>
          </a:prstGeom>
          <a:noFill/>
        </p:spPr>
        <p:txBody>
          <a:bodyPr wrap="square" lIns="73152" rIns="73152" anchor="t"/>
          <a:lstStyle/>
          <a:p>
            <a:pPr algn="l" marL="155448" indent="-155448">
              <a:spcAft>
                <a:spcPts val="400"/>
              </a:spcAft>
              <a:buFont typeface="Arial"/>
              <a:buChar char="•"/>
            </a:pPr>
            <a:r>
              <a:rPr sz="1100" b="0" i="0">
                <a:solidFill>
                  <a:srgbClr val="1A1A1A"/>
                </a:solidFill>
                <a:latin typeface="Arial"/>
              </a:rPr>
              <a:t>Integrated blocks </a:t>
            </a:r>
            <a:r>
              <a:rPr sz="1100" b="1" i="0">
                <a:solidFill>
                  <a:srgbClr val="1A1A1A"/>
                </a:solidFill>
                <a:latin typeface="Arial"/>
              </a:rPr>
              <a:t>concentrate disruption</a:t>
            </a:r>
            <a:r>
              <a:rPr sz="1100" b="0" i="0">
                <a:solidFill>
                  <a:srgbClr val="1A1A1A"/>
                </a:solidFill>
                <a:latin typeface="Arial"/>
              </a:rPr>
              <a:t> into fewer, longer blocks; secondary trains and their freight customers absorb delay on those nights. We price this, not remove it.</a:t>
            </a:r>
          </a:p>
          <a:p>
            <a:pPr algn="l" marL="155448" indent="-155448">
              <a:spcAft>
                <a:spcPts val="0"/>
              </a:spcAft>
              <a:buFont typeface="Arial"/>
              <a:buChar char="•"/>
            </a:pPr>
            <a:r>
              <a:rPr sz="1100" b="0" i="0">
                <a:solidFill>
                  <a:srgbClr val="1A1A1A"/>
                </a:solidFill>
                <a:latin typeface="Arial"/>
              </a:rPr>
              <a:t>Planners shift from scheduling to reviewing: risk of </a:t>
            </a:r>
            <a:r>
              <a:rPr sz="1100" b="1" i="0">
                <a:solidFill>
                  <a:srgbClr val="1A1A1A"/>
                </a:solidFill>
                <a:latin typeface="Arial"/>
              </a:rPr>
              <a:t>over-trust</a:t>
            </a:r>
            <a:r>
              <a:rPr sz="1100" b="0" i="0">
                <a:solidFill>
                  <a:srgbClr val="1A1A1A"/>
                </a:solidFill>
                <a:latin typeface="Arial"/>
              </a:rPr>
              <a:t>. Advisory mode, reasons and override logs limit it.</a:t>
            </a:r>
          </a:p>
        </p:txBody>
      </p:sp>
      <p:sp>
        <p:nvSpPr>
          <p:cNvPr id="17432" name="TextBox 17431"/>
          <p:cNvSpPr txBox="1"/>
          <p:nvPr/>
        </p:nvSpPr>
        <p:spPr>
          <a:xfrm>
            <a:off x="6172200" y="5074920"/>
            <a:ext cx="5532120" cy="1170432"/>
          </a:xfrm>
          <a:prstGeom prst="rect">
            <a:avLst/>
          </a:prstGeom>
          <a:noFill/>
        </p:spPr>
        <p:txBody>
          <a:bodyPr wrap="square" lIns="73152" rIns="73152" anchor="t"/>
          <a:lstStyle/>
          <a:p>
            <a:pPr algn="l" marL="155448" indent="-155448">
              <a:spcAft>
                <a:spcPts val="400"/>
              </a:spcAft>
              <a:buFont typeface="Arial"/>
              <a:buChar char="•"/>
            </a:pPr>
            <a:r>
              <a:rPr sz="1100" b="0" i="0">
                <a:solidFill>
                  <a:srgbClr val="1A1A1A"/>
                </a:solidFill>
                <a:latin typeface="Arial"/>
              </a:rPr>
              <a:t>Departments </a:t>
            </a:r>
            <a:r>
              <a:rPr sz="1100" b="1" i="0">
                <a:solidFill>
                  <a:srgbClr val="1A1A1A"/>
                </a:solidFill>
                <a:latin typeface="Arial"/>
              </a:rPr>
              <a:t>lose some scheduling autonomy</a:t>
            </a:r>
            <a:r>
              <a:rPr sz="1100" b="0" i="0">
                <a:solidFill>
                  <a:srgbClr val="1A1A1A"/>
                </a:solidFill>
                <a:latin typeface="Arial"/>
              </a:rPr>
              <a:t>; badly set weights could favour one. Weights are published and set by the approving authority.</a:t>
            </a:r>
          </a:p>
          <a:p>
            <a:pPr algn="l" marL="155448" indent="-155448">
              <a:spcAft>
                <a:spcPts val="0"/>
              </a:spcAft>
              <a:buFont typeface="Arial"/>
              <a:buChar char="•"/>
            </a:pPr>
            <a:r>
              <a:rPr sz="1100" b="0" i="0">
                <a:solidFill>
                  <a:srgbClr val="1A1A1A"/>
                </a:solidFill>
                <a:latin typeface="Arial"/>
              </a:rPr>
              <a:t>Depots carry a one-time </a:t>
            </a:r>
            <a:r>
              <a:rPr sz="1100" b="1" i="0">
                <a:solidFill>
                  <a:srgbClr val="1A1A1A"/>
                </a:solidFill>
                <a:latin typeface="Arial"/>
              </a:rPr>
              <a:t>data-cleaning burden</a:t>
            </a:r>
            <a:r>
              <a:rPr sz="1100" b="0" i="0">
                <a:solidFill>
                  <a:srgbClr val="1A1A1A"/>
                </a:solidFill>
                <a:latin typeface="Arial"/>
              </a:rPr>
              <a:t> (TMS quality gaps in CAG 2022 and CAG 2018).</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b="1" sz="1300"/>
              <a:t>InnoByte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Rectangle 17409"/>
          <p:cNvSpPr/>
          <p:nvPr/>
        </p:nvSpPr>
        <p:spPr>
          <a:xfrm>
            <a:off x="365760" y="1170432"/>
            <a:ext cx="11457432" cy="384048"/>
          </a:xfrm>
          <a:prstGeom prst="rect">
            <a:avLst/>
          </a:prstGeom>
          <a:solidFill>
            <a:srgbClr val="1F3864"/>
          </a:solidFill>
          <a:ln w="9525">
            <a:solidFill>
              <a:srgbClr val="1F3864"/>
            </a:solidFill>
          </a:ln>
          <a:effectLst/>
        </p:spPr>
        <p:txBody>
          <a:bodyPr rtlCol="0" anchor="ctr" wrap="square" lIns="109728" rIns="109728" tIns="36576" bIns="36576"/>
          <a:lstStyle/>
          <a:p>
            <a:pPr algn="l"/>
            <a:r>
              <a:rPr sz="1250" b="1" i="0">
                <a:solidFill>
                  <a:srgbClr val="FFFFFF"/>
                </a:solidFill>
                <a:latin typeface="Arial"/>
              </a:rPr>
              <a:t>Details / Links of the reference and research work</a:t>
            </a:r>
          </a:p>
        </p:txBody>
      </p:sp>
      <p:graphicFrame>
        <p:nvGraphicFramePr>
          <p:cNvPr id="17411" name="Table 17410"/>
          <p:cNvGraphicFramePr>
            <a:graphicFrameLocks noGrp="1"/>
          </p:cNvGraphicFramePr>
          <p:nvPr/>
        </p:nvGraphicFramePr>
        <p:xfrm>
          <a:off x="365760" y="1609344"/>
          <a:ext cx="11457432" cy="2688336"/>
        </p:xfrm>
        <a:graphic>
          <a:graphicData uri="http://schemas.openxmlformats.org/drawingml/2006/table">
            <a:tbl>
              <a:tblPr firstRow="1" bandRow="1">
                <a:tableStyleId>{5C22544A-7EE6-4342-B048-85BDC9FD1C3A}</a:tableStyleId>
              </a:tblPr>
              <a:tblGrid>
                <a:gridCol w="2011680"/>
                <a:gridCol w="4572000"/>
                <a:gridCol w="4873752"/>
              </a:tblGrid>
              <a:tr h="274320">
                <a:tc>
                  <a:txBody>
                    <a:bodyPr wrap="square"/>
                    <a:lstStyle/>
                    <a:p>
                      <a:r>
                        <a:rPr sz="1100" b="1" i="0">
                          <a:solidFill>
                            <a:srgbClr val="FFFFFF"/>
                          </a:solidFill>
                          <a:latin typeface="Arial"/>
                        </a:rPr>
                        <a:t>Source</a:t>
                      </a:r>
                    </a:p>
                  </a:txBody>
                  <a:tcPr marL="73152" marR="73152" marT="18288" marB="18288" anchor="ctr">
                    <a:solidFill>
                      <a:srgbClr val="1F3864"/>
                    </a:solidFill>
                  </a:tcPr>
                </a:tc>
                <a:tc>
                  <a:txBody>
                    <a:bodyPr wrap="square"/>
                    <a:lstStyle/>
                    <a:p>
                      <a:r>
                        <a:rPr sz="1100" b="1" i="0">
                          <a:solidFill>
                            <a:srgbClr val="FFFFFF"/>
                          </a:solidFill>
                          <a:latin typeface="Arial"/>
                        </a:rPr>
                        <a:t>What it shows</a:t>
                      </a:r>
                    </a:p>
                  </a:txBody>
                  <a:tcPr marL="73152" marR="73152" marT="18288" marB="18288" anchor="ctr">
                    <a:solidFill>
                      <a:srgbClr val="1F3864"/>
                    </a:solidFill>
                  </a:tcPr>
                </a:tc>
                <a:tc>
                  <a:txBody>
                    <a:bodyPr wrap="square"/>
                    <a:lstStyle/>
                    <a:p>
                      <a:r>
                        <a:rPr sz="1100" b="1" i="0">
                          <a:solidFill>
                            <a:srgbClr val="FFFFFF"/>
                          </a:solidFill>
                          <a:latin typeface="Arial"/>
                        </a:rPr>
                        <a:t>Design decision in our system</a:t>
                      </a:r>
                    </a:p>
                  </a:txBody>
                  <a:tcPr marL="73152" marR="73152" marT="18288" marB="18288" anchor="ctr">
                    <a:solidFill>
                      <a:srgbClr val="1F3864"/>
                    </a:solidFill>
                  </a:tcPr>
                </a:tc>
              </a:tr>
              <a:tr h="301752">
                <a:tc>
                  <a:txBody>
                    <a:bodyPr wrap="square"/>
                    <a:lstStyle/>
                    <a:p>
                      <a:r>
                        <a:rPr sz="1050" b="1" i="0">
                          <a:solidFill>
                            <a:srgbClr val="0070C0"/>
                          </a:solidFill>
                          <a:latin typeface="Arial"/>
                          <a:hlinkClick r:id="rId4"/>
                        </a:rPr>
                        <a:t>CAG 2022</a:t>
                      </a:r>
                    </a:p>
                  </a:txBody>
                  <a:tcPr marL="73152" marR="73152" marT="18288" marB="18288" anchor="ctr">
                    <a:solidFill>
                      <a:srgbClr val="F7F9FC"/>
                    </a:solidFill>
                  </a:tcPr>
                </a:tc>
                <a:tc>
                  <a:txBody>
                    <a:bodyPr wrap="square"/>
                    <a:lstStyle/>
                    <a:p>
                      <a:r>
                        <a:rPr sz="1000" b="0" i="0">
                          <a:solidFill>
                            <a:srgbClr val="1A1A1A"/>
                          </a:solidFill>
                          <a:latin typeface="Arial"/>
                        </a:rPr>
                        <a:t>Machine-idle causes (Table 2.4.1); integrated blocks (para 2.8)</a:t>
                      </a:r>
                    </a:p>
                  </a:txBody>
                  <a:tcPr marL="73152" marR="73152" marT="18288" marB="18288" anchor="ctr">
                    <a:solidFill>
                      <a:srgbClr val="F7F9FC"/>
                    </a:solidFill>
                  </a:tcPr>
                </a:tc>
                <a:tc>
                  <a:txBody>
                    <a:bodyPr wrap="square"/>
                    <a:lstStyle/>
                    <a:p>
                      <a:r>
                        <a:rPr sz="1000" b="0" i="0">
                          <a:solidFill>
                            <a:srgbClr val="1A1A1A"/>
                          </a:solidFill>
                          <a:latin typeface="Arial"/>
                        </a:rPr>
                        <a:t>Plan blocks from overdue work; calibrate the siloed baseline on Table 2.4.1</a:t>
                      </a:r>
                    </a:p>
                  </a:txBody>
                  <a:tcPr marL="73152" marR="73152" marT="18288" marB="18288" anchor="ctr">
                    <a:solidFill>
                      <a:srgbClr val="F7F9FC"/>
                    </a:solidFill>
                  </a:tcPr>
                </a:tc>
              </a:tr>
              <a:tr h="301752">
                <a:tc>
                  <a:txBody>
                    <a:bodyPr wrap="square"/>
                    <a:lstStyle/>
                    <a:p>
                      <a:r>
                        <a:rPr sz="1050" b="1" i="0">
                          <a:solidFill>
                            <a:srgbClr val="0070C0"/>
                          </a:solidFill>
                          <a:latin typeface="Arial"/>
                          <a:hlinkClick r:id="rId5"/>
                        </a:rPr>
                        <a:t>CAG 2018</a:t>
                      </a:r>
                    </a:p>
                  </a:txBody>
                  <a:tcPr marL="73152" marR="73152" marT="18288" marB="18288" anchor="ctr">
                    <a:solidFill>
                      <a:srgbClr val="FFFFFF"/>
                    </a:solidFill>
                  </a:tcPr>
                </a:tc>
                <a:tc>
                  <a:txBody>
                    <a:bodyPr wrap="square"/>
                    <a:lstStyle/>
                    <a:p>
                      <a:r>
                        <a:rPr sz="1000" b="0" i="0">
                          <a:solidFill>
                            <a:srgbClr val="1A1A1A"/>
                          </a:solidFill>
                          <a:latin typeface="Arial"/>
                        </a:rPr>
                        <a:t>Blocks provided fell short of Engineering's demand (para 3.5)</a:t>
                      </a:r>
                    </a:p>
                  </a:txBody>
                  <a:tcPr marL="73152" marR="73152" marT="18288" marB="18288" anchor="ctr">
                    <a:solidFill>
                      <a:srgbClr val="FFFFFF"/>
                    </a:solidFill>
                  </a:tcPr>
                </a:tc>
                <a:tc>
                  <a:txBody>
                    <a:bodyPr wrap="square"/>
                    <a:lstStyle/>
                    <a:p>
                      <a:r>
                        <a:rPr sz="1000" b="0" i="0">
                          <a:solidFill>
                            <a:srgbClr val="1A1A1A"/>
                          </a:solidFill>
                          <a:latin typeface="Arial"/>
                        </a:rPr>
                        <a:t>Baseline supplies fewer blocks than departments demand</a:t>
                      </a:r>
                    </a:p>
                  </a:txBody>
                  <a:tcPr marL="73152" marR="73152" marT="18288" marB="18288" anchor="ctr">
                    <a:solidFill>
                      <a:srgbClr val="FFFFFF"/>
                    </a:solidFill>
                  </a:tcPr>
                </a:tc>
              </a:tr>
              <a:tr h="301752">
                <a:tc>
                  <a:txBody>
                    <a:bodyPr wrap="square"/>
                    <a:lstStyle/>
                    <a:p>
                      <a:r>
                        <a:rPr sz="1050" b="1" i="0">
                          <a:solidFill>
                            <a:srgbClr val="0070C0"/>
                          </a:solidFill>
                          <a:latin typeface="Arial"/>
                          <a:hlinkClick r:id="rId6"/>
                        </a:rPr>
                        <a:t>IRTMM Ch. 5</a:t>
                      </a:r>
                    </a:p>
                  </a:txBody>
                  <a:tcPr marL="73152" marR="73152" marT="18288" marB="18288" anchor="ctr">
                    <a:solidFill>
                      <a:srgbClr val="F7F9FC"/>
                    </a:solidFill>
                  </a:tcPr>
                </a:tc>
                <a:tc>
                  <a:txBody>
                    <a:bodyPr wrap="square"/>
                    <a:lstStyle/>
                    <a:p>
                      <a:r>
                        <a:rPr sz="1000" b="0" i="0">
                          <a:solidFill>
                            <a:srgbClr val="1A1A1A"/>
                          </a:solidFill>
                          <a:latin typeface="Arial"/>
                        </a:rPr>
                        <a:t>Corridor-block norms; OHE block for machine-top work; monthly block reports</a:t>
                      </a:r>
                    </a:p>
                  </a:txBody>
                  <a:tcPr marL="73152" marR="73152" marT="18288" marB="18288" anchor="ctr">
                    <a:solidFill>
                      <a:srgbClr val="F7F9FC"/>
                    </a:solidFill>
                  </a:tcPr>
                </a:tc>
                <a:tc>
                  <a:txBody>
                    <a:bodyPr wrap="square"/>
                    <a:lstStyle/>
                    <a:p>
                      <a:r>
                        <a:rPr sz="1000" b="0" i="0">
                          <a:solidFill>
                            <a:srgbClr val="1A1A1A"/>
                          </a:solidFill>
                          <a:latin typeface="Arial"/>
                        </a:rPr>
                        <a:t>Corridors are block supply; job-order rules; report utilisation the same way</a:t>
                      </a:r>
                    </a:p>
                  </a:txBody>
                  <a:tcPr marL="73152" marR="73152" marT="18288" marB="18288" anchor="ctr">
                    <a:solidFill>
                      <a:srgbClr val="F7F9FC"/>
                    </a:solidFill>
                  </a:tcPr>
                </a:tc>
              </a:tr>
              <a:tr h="301752">
                <a:tc>
                  <a:txBody>
                    <a:bodyPr wrap="square"/>
                    <a:lstStyle/>
                    <a:p>
                      <a:r>
                        <a:rPr sz="1050" b="1" i="0">
                          <a:solidFill>
                            <a:srgbClr val="0070C0"/>
                          </a:solidFill>
                          <a:latin typeface="Arial"/>
                          <a:hlinkClick r:id="rId7"/>
                        </a:rPr>
                        <a:t>MoR 2025</a:t>
                      </a:r>
                    </a:p>
                  </a:txBody>
                  <a:tcPr marL="73152" marR="73152" marT="18288" marB="18288" anchor="ctr">
                    <a:solidFill>
                      <a:srgbClr val="FFFFFF"/>
                    </a:solidFill>
                  </a:tcPr>
                </a:tc>
                <a:tc>
                  <a:txBody>
                    <a:bodyPr wrap="square"/>
                    <a:lstStyle/>
                    <a:p>
                      <a:r>
                        <a:rPr sz="1000" b="0" i="0">
                          <a:solidFill>
                            <a:srgbClr val="1A1A1A"/>
                          </a:solidFill>
                          <a:latin typeface="Arial"/>
                        </a:rPr>
                        <a:t>Rolling Block: integrated plans up to 52 weeks ahead</a:t>
                      </a:r>
                    </a:p>
                  </a:txBody>
                  <a:tcPr marL="73152" marR="73152" marT="18288" marB="18288" anchor="ctr">
                    <a:solidFill>
                      <a:srgbClr val="FFFFFF"/>
                    </a:solidFill>
                  </a:tcPr>
                </a:tc>
                <a:tc>
                  <a:txBody>
                    <a:bodyPr wrap="square"/>
                    <a:lstStyle/>
                    <a:p>
                      <a:r>
                        <a:rPr sz="1000" b="0" i="0">
                          <a:solidFill>
                            <a:srgbClr val="1A1A1A"/>
                          </a:solidFill>
                          <a:latin typeface="Arial"/>
                        </a:rPr>
                        <a:t>Monthly reservations, weekly detail, rolled forward</a:t>
                      </a:r>
                    </a:p>
                  </a:txBody>
                  <a:tcPr marL="73152" marR="73152" marT="18288" marB="18288" anchor="ctr">
                    <a:solidFill>
                      <a:srgbClr val="FFFFFF"/>
                    </a:solidFill>
                  </a:tcPr>
                </a:tc>
              </a:tr>
              <a:tr h="301752">
                <a:tc>
                  <a:txBody>
                    <a:bodyPr wrap="square"/>
                    <a:lstStyle/>
                    <a:p>
                      <a:r>
                        <a:rPr sz="1050" b="1" i="0">
                          <a:solidFill>
                            <a:srgbClr val="0070C0"/>
                          </a:solidFill>
                          <a:latin typeface="Arial"/>
                          <a:hlinkClick r:id="rId8"/>
                        </a:rPr>
                        <a:t>Lidén &amp; Joborn 2017</a:t>
                      </a:r>
                    </a:p>
                  </a:txBody>
                  <a:tcPr marL="73152" marR="73152" marT="18288" marB="18288" anchor="ctr">
                    <a:solidFill>
                      <a:srgbClr val="F7F9FC"/>
                    </a:solidFill>
                  </a:tcPr>
                </a:tc>
                <a:tc>
                  <a:txBody>
                    <a:bodyPr wrap="square"/>
                    <a:lstStyle/>
                    <a:p>
                      <a:r>
                        <a:rPr sz="1000" b="0" i="0">
                          <a:solidFill>
                            <a:srgbClr val="1A1A1A"/>
                          </a:solidFill>
                          <a:latin typeface="Arial"/>
                        </a:rPr>
                        <a:t>Maintenance windows scheduled together with train traffic</a:t>
                      </a:r>
                    </a:p>
                  </a:txBody>
                  <a:tcPr marL="73152" marR="73152" marT="18288" marB="18288" anchor="ctr">
                    <a:solidFill>
                      <a:srgbClr val="F7F9FC"/>
                    </a:solidFill>
                  </a:tcPr>
                </a:tc>
                <a:tc>
                  <a:txBody>
                    <a:bodyPr wrap="square"/>
                    <a:lstStyle/>
                    <a:p>
                      <a:r>
                        <a:rPr sz="1000" b="0" i="0">
                          <a:solidFill>
                            <a:srgbClr val="1A1A1A"/>
                          </a:solidFill>
                          <a:latin typeface="Arial"/>
                        </a:rPr>
                        <a:t>One model for blocks and train paths, not two</a:t>
                      </a:r>
                    </a:p>
                  </a:txBody>
                  <a:tcPr marL="73152" marR="73152" marT="18288" marB="18288" anchor="ctr">
                    <a:solidFill>
                      <a:srgbClr val="F7F9FC"/>
                    </a:solidFill>
                  </a:tcPr>
                </a:tc>
              </a:tr>
              <a:tr h="301752">
                <a:tc>
                  <a:txBody>
                    <a:bodyPr wrap="square"/>
                    <a:lstStyle/>
                    <a:p>
                      <a:r>
                        <a:rPr sz="1050" b="1" i="0">
                          <a:solidFill>
                            <a:srgbClr val="0070C0"/>
                          </a:solidFill>
                          <a:latin typeface="Arial"/>
                          <a:hlinkClick r:id="rId9"/>
                        </a:rPr>
                        <a:t>Lidén et al. 2018</a:t>
                      </a:r>
                    </a:p>
                  </a:txBody>
                  <a:tcPr marL="73152" marR="73152" marT="18288" marB="18288" anchor="ctr">
                    <a:solidFill>
                      <a:srgbClr val="FFFFFF"/>
                    </a:solidFill>
                  </a:tcPr>
                </a:tc>
                <a:tc>
                  <a:txBody>
                    <a:bodyPr wrap="square"/>
                    <a:lstStyle/>
                    <a:p>
                      <a:r>
                        <a:rPr sz="1000" b="0" i="0">
                          <a:solidFill>
                            <a:srgbClr val="1A1A1A"/>
                          </a:solidFill>
                          <a:latin typeface="Arial"/>
                        </a:rPr>
                        <a:t>Resource limits in joint traffic and maintenance planning</a:t>
                      </a:r>
                    </a:p>
                  </a:txBody>
                  <a:tcPr marL="73152" marR="73152" marT="18288" marB="18288" anchor="ctr">
                    <a:solidFill>
                      <a:srgbClr val="FFFFFF"/>
                    </a:solidFill>
                  </a:tcPr>
                </a:tc>
                <a:tc>
                  <a:txBody>
                    <a:bodyPr wrap="square"/>
                    <a:lstStyle/>
                    <a:p>
                      <a:r>
                        <a:rPr sz="1000" b="0" i="0">
                          <a:solidFill>
                            <a:srgbClr val="1A1A1A"/>
                          </a:solidFill>
                          <a:latin typeface="Arial"/>
                        </a:rPr>
                        <a:t>Crew and machine limits as constraints</a:t>
                      </a:r>
                    </a:p>
                  </a:txBody>
                  <a:tcPr marL="73152" marR="73152" marT="18288" marB="18288" anchor="ctr">
                    <a:solidFill>
                      <a:srgbClr val="FFFFFF"/>
                    </a:solidFill>
                  </a:tcPr>
                </a:tc>
              </a:tr>
              <a:tr h="301752">
                <a:tc>
                  <a:txBody>
                    <a:bodyPr wrap="square"/>
                    <a:lstStyle/>
                    <a:p>
                      <a:r>
                        <a:rPr sz="1050" b="1" i="0">
                          <a:solidFill>
                            <a:srgbClr val="0070C0"/>
                          </a:solidFill>
                          <a:latin typeface="Arial"/>
                          <a:hlinkClick r:id="rId10"/>
                        </a:rPr>
                        <a:t>D'Ariano et al. 2019</a:t>
                      </a:r>
                    </a:p>
                  </a:txBody>
                  <a:tcPr marL="73152" marR="73152" marT="18288" marB="18288" anchor="ctr">
                    <a:solidFill>
                      <a:srgbClr val="F7F9FC"/>
                    </a:solidFill>
                  </a:tcPr>
                </a:tc>
                <a:tc>
                  <a:txBody>
                    <a:bodyPr wrap="square"/>
                    <a:lstStyle/>
                    <a:p>
                      <a:r>
                        <a:rPr sz="1000" b="0" i="0">
                          <a:solidFill>
                            <a:srgbClr val="1A1A1A"/>
                          </a:solidFill>
                          <a:latin typeface="Arial"/>
                        </a:rPr>
                        <a:t>Planning that stays robust under disturbances</a:t>
                      </a:r>
                    </a:p>
                  </a:txBody>
                  <a:tcPr marL="73152" marR="73152" marT="18288" marB="18288" anchor="ctr">
                    <a:solidFill>
                      <a:srgbClr val="F7F9FC"/>
                    </a:solidFill>
                  </a:tcPr>
                </a:tc>
                <a:tc>
                  <a:txBody>
                    <a:bodyPr wrap="square"/>
                    <a:lstStyle/>
                    <a:p>
                      <a:r>
                        <a:rPr sz="1000" b="0" i="0">
                          <a:solidFill>
                            <a:srgbClr val="1A1A1A"/>
                          </a:solidFill>
                          <a:latin typeface="Arial"/>
                        </a:rPr>
                        <a:t>Margins after each block; re-plan on overrun (later phase)</a:t>
                      </a:r>
                    </a:p>
                  </a:txBody>
                  <a:tcPr marL="73152" marR="73152" marT="18288" marB="18288" anchor="ctr">
                    <a:solidFill>
                      <a:srgbClr val="F7F9FC"/>
                    </a:solidFill>
                  </a:tcPr>
                </a:tc>
              </a:tr>
              <a:tr h="301752">
                <a:tc>
                  <a:txBody>
                    <a:bodyPr wrap="square"/>
                    <a:lstStyle/>
                    <a:p>
                      <a:r>
                        <a:rPr sz="1050" b="1" i="0">
                          <a:solidFill>
                            <a:srgbClr val="1F3864"/>
                          </a:solidFill>
                          <a:latin typeface="Arial"/>
                        </a:rPr>
                        <a:t>Peng &amp; Ouyang 2014</a:t>
                      </a:r>
                    </a:p>
                  </a:txBody>
                  <a:tcPr marL="73152" marR="73152" marT="18288" marB="18288" anchor="ctr">
                    <a:solidFill>
                      <a:srgbClr val="FFFFFF"/>
                    </a:solidFill>
                  </a:tcPr>
                </a:tc>
                <a:tc>
                  <a:txBody>
                    <a:bodyPr wrap="square"/>
                    <a:lstStyle/>
                    <a:p>
                      <a:r>
                        <a:rPr sz="1000" b="0" i="0">
                          <a:solidFill>
                            <a:srgbClr val="1A1A1A"/>
                          </a:solidFill>
                          <a:latin typeface="Arial"/>
                        </a:rPr>
                        <a:t>Clustering maintenance jobs into shared blocks</a:t>
                      </a:r>
                    </a:p>
                  </a:txBody>
                  <a:tcPr marL="73152" marR="73152" marT="18288" marB="18288" anchor="ctr">
                    <a:solidFill>
                      <a:srgbClr val="FFFFFF"/>
                    </a:solidFill>
                  </a:tcPr>
                </a:tc>
                <a:tc>
                  <a:txBody>
                    <a:bodyPr wrap="square"/>
                    <a:lstStyle/>
                    <a:p>
                      <a:r>
                        <a:rPr sz="1000" b="0" i="0">
                          <a:solidFill>
                            <a:srgbClr val="1A1A1A"/>
                          </a:solidFill>
                          <a:latin typeface="Arial"/>
                        </a:rPr>
                        <a:t>The composer merges compatible jobs</a:t>
                      </a:r>
                    </a:p>
                  </a:txBody>
                  <a:tcPr marL="73152" marR="73152" marT="18288" marB="18288" anchor="ctr">
                    <a:solidFill>
                      <a:srgbClr val="FFFFFF"/>
                    </a:solidFill>
                  </a:tcPr>
                </a:tc>
              </a:tr>
            </a:tbl>
          </a:graphicData>
        </a:graphic>
      </p:graphicFrame>
      <p:sp>
        <p:nvSpPr>
          <p:cNvPr id="17412" name="TextBox 17411"/>
          <p:cNvSpPr txBox="1"/>
          <p:nvPr/>
        </p:nvSpPr>
        <p:spPr>
          <a:xfrm>
            <a:off x="365760" y="4370832"/>
            <a:ext cx="11457432" cy="237744"/>
          </a:xfrm>
          <a:prstGeom prst="rect">
            <a:avLst/>
          </a:prstGeom>
          <a:noFill/>
        </p:spPr>
        <p:txBody>
          <a:bodyPr wrap="square" lIns="18288" tIns="0" rIns="0" bIns="0" anchor="t"/>
          <a:lstStyle/>
          <a:p>
            <a:pPr algn="l" marL="0" indent="0">
              <a:buNone/>
            </a:pPr>
            <a:r>
              <a:rPr sz="1050" b="1" i="0">
                <a:solidFill>
                  <a:srgbClr val="1F3864"/>
                </a:solidFill>
                <a:latin typeface="Arial"/>
              </a:rPr>
              <a:t>All statistics on slides 2, 4 and 5 come from CAG 2022 or CAG 2018. The four papers are our method's research basis, not evidence of our results.</a:t>
            </a:r>
          </a:p>
        </p:txBody>
      </p:sp>
      <p:sp>
        <p:nvSpPr>
          <p:cNvPr id="17413" name="Rectangle 17412"/>
          <p:cNvSpPr/>
          <p:nvPr/>
        </p:nvSpPr>
        <p:spPr>
          <a:xfrm>
            <a:off x="365760" y="4645152"/>
            <a:ext cx="11457432" cy="1618488"/>
          </a:xfrm>
          <a:prstGeom prst="rect">
            <a:avLst/>
          </a:prstGeom>
          <a:solidFill>
            <a:srgbClr val="F7F9FC"/>
          </a:solidFill>
          <a:ln w="9525">
            <a:solidFill>
              <a:srgbClr val="C9D6E6"/>
            </a:solidFill>
          </a:ln>
          <a:effectLst/>
        </p:spPr>
        <p:txBody>
          <a:bodyPr rtlCol="0" anchor="ctr"/>
          <a:lstStyle/>
          <a:p/>
        </p:txBody>
      </p:sp>
      <p:sp>
        <p:nvSpPr>
          <p:cNvPr id="17414" name="TextBox 17413"/>
          <p:cNvSpPr txBox="1"/>
          <p:nvPr/>
        </p:nvSpPr>
        <p:spPr>
          <a:xfrm>
            <a:off x="411480" y="4663440"/>
            <a:ext cx="5577840" cy="1591056"/>
          </a:xfrm>
          <a:prstGeom prst="rect">
            <a:avLst/>
          </a:prstGeom>
          <a:noFill/>
        </p:spPr>
        <p:txBody>
          <a:bodyPr wrap="square" lIns="73152" rIns="73152" anchor="t"/>
          <a:lstStyle/>
          <a:p>
            <a:pPr algn="l" marL="0" indent="0">
              <a:spcAft>
                <a:spcPts val="300"/>
              </a:spcAft>
              <a:buNone/>
            </a:pPr>
            <a:r>
              <a:rPr sz="850" b="1" i="0">
                <a:solidFill>
                  <a:srgbClr val="1F3864"/>
                </a:solidFill>
                <a:latin typeface="Arial"/>
              </a:rPr>
              <a:t>CAG 2022  </a:t>
            </a:r>
            <a:r>
              <a:rPr sz="850" b="0" i="0">
                <a:solidFill>
                  <a:srgbClr val="1A1A1A"/>
                </a:solidFill>
                <a:latin typeface="Arial"/>
              </a:rPr>
              <a:t>Comptroller and Auditor General of India (tabled 21 Dec 2022). Report No. 22 of 2022: Performance Audit on Derailment in Indian Railways.</a:t>
            </a:r>
            <a:r>
              <a:rPr sz="850" b="0" i="0">
                <a:solidFill>
                  <a:srgbClr val="1A1A1A"/>
                </a:solidFill>
                <a:latin typeface="Arial"/>
              </a:rPr>
              <a:t> </a:t>
            </a:r>
            <a:r>
              <a:rPr sz="850" b="0" i="0">
                <a:solidFill>
                  <a:srgbClr val="0070C0"/>
                </a:solidFill>
                <a:latin typeface="Arial"/>
                <a:hlinkClick r:id="rId4"/>
              </a:rPr>
              <a:t>cag.gov.in/en/audit-report/details/117808</a:t>
            </a:r>
          </a:p>
          <a:p>
            <a:pPr algn="l" marL="0" indent="0">
              <a:spcAft>
                <a:spcPts val="300"/>
              </a:spcAft>
              <a:buNone/>
            </a:pPr>
            <a:r>
              <a:rPr sz="850" b="1" i="0">
                <a:solidFill>
                  <a:srgbClr val="1F3864"/>
                </a:solidFill>
                <a:latin typeface="Arial"/>
              </a:rPr>
              <a:t>CAG 2018  </a:t>
            </a:r>
            <a:r>
              <a:rPr sz="850" b="0" i="0">
                <a:solidFill>
                  <a:srgbClr val="1A1A1A"/>
                </a:solidFill>
                <a:latin typeface="Arial"/>
              </a:rPr>
              <a:t>CAG (tabled 13 Mar 2018). Report No. 45 of 2017: Compliance Audit on Maintenance of Track on Heavy Traffic Sections over Indian Railways.</a:t>
            </a:r>
            <a:r>
              <a:rPr sz="850" b="0" i="0">
                <a:solidFill>
                  <a:srgbClr val="1A1A1A"/>
                </a:solidFill>
                <a:latin typeface="Arial"/>
              </a:rPr>
              <a:t> </a:t>
            </a:r>
            <a:r>
              <a:rPr sz="850" b="0" i="0">
                <a:solidFill>
                  <a:srgbClr val="0070C0"/>
                </a:solidFill>
                <a:latin typeface="Arial"/>
                <a:hlinkClick r:id="rId5"/>
              </a:rPr>
              <a:t>cag.gov.in/rly/chennai/en/audit-report/details/43219</a:t>
            </a:r>
          </a:p>
          <a:p>
            <a:pPr algn="l" marL="0" indent="0">
              <a:spcAft>
                <a:spcPts val="300"/>
              </a:spcAft>
              <a:buNone/>
            </a:pPr>
            <a:r>
              <a:rPr sz="850" b="1" i="0">
                <a:solidFill>
                  <a:srgbClr val="1F3864"/>
                </a:solidFill>
                <a:latin typeface="Arial"/>
              </a:rPr>
              <a:t>IRTMM  </a:t>
            </a:r>
            <a:r>
              <a:rPr sz="850" b="0" i="0">
                <a:solidFill>
                  <a:srgbClr val="1A1A1A"/>
                </a:solidFill>
                <a:latin typeface="Arial"/>
              </a:rPr>
              <a:t>Indian Railways Track Machines Manual (RDSO), Chapter 5.</a:t>
            </a:r>
            <a:r>
              <a:rPr sz="850" b="0" i="0">
                <a:solidFill>
                  <a:srgbClr val="1A1A1A"/>
                </a:solidFill>
                <a:latin typeface="Arial"/>
              </a:rPr>
              <a:t> </a:t>
            </a:r>
            <a:r>
              <a:rPr sz="850" b="0" i="0">
                <a:solidFill>
                  <a:srgbClr val="0070C0"/>
                </a:solidFill>
                <a:latin typeface="Arial"/>
                <a:hlinkClick r:id="rId6"/>
              </a:rPr>
              <a:t>indianrailways.gov.in/railwayboard/uploads/codesmanual/IRTMM-RDSO/TMM_Ch/TMM_Ch_5.html</a:t>
            </a:r>
          </a:p>
          <a:p>
            <a:pPr algn="l" marL="0" indent="0">
              <a:spcAft>
                <a:spcPts val="300"/>
              </a:spcAft>
              <a:buNone/>
            </a:pPr>
            <a:r>
              <a:rPr sz="850" b="1" i="0">
                <a:solidFill>
                  <a:srgbClr val="1F3864"/>
                </a:solidFill>
                <a:latin typeface="Arial"/>
              </a:rPr>
              <a:t>MoR 2025  </a:t>
            </a:r>
            <a:r>
              <a:rPr sz="850" b="0" i="0">
                <a:solidFill>
                  <a:srgbClr val="1A1A1A"/>
                </a:solidFill>
                <a:latin typeface="Arial"/>
              </a:rPr>
              <a:t>Ministry of Railways, Lok Sabha Unstarred Question No. 2809, answered 6 Aug 2025.</a:t>
            </a:r>
            <a:r>
              <a:rPr sz="850" b="0" i="0">
                <a:solidFill>
                  <a:srgbClr val="1A1A1A"/>
                </a:solidFill>
                <a:latin typeface="Arial"/>
              </a:rPr>
              <a:t> </a:t>
            </a:r>
            <a:r>
              <a:rPr sz="850" b="0" i="0">
                <a:solidFill>
                  <a:srgbClr val="0070C0"/>
                </a:solidFill>
                <a:latin typeface="Arial"/>
                <a:hlinkClick r:id="rId7"/>
              </a:rPr>
              <a:t>eparlib.sansad.in/bitstream/123456789/2994555/1/AU2809_2K8a1e.pdf</a:t>
            </a:r>
          </a:p>
        </p:txBody>
      </p:sp>
      <p:sp>
        <p:nvSpPr>
          <p:cNvPr id="17415" name="TextBox 17414"/>
          <p:cNvSpPr txBox="1"/>
          <p:nvPr/>
        </p:nvSpPr>
        <p:spPr>
          <a:xfrm>
            <a:off x="6199632" y="4663440"/>
            <a:ext cx="5577840" cy="1591056"/>
          </a:xfrm>
          <a:prstGeom prst="rect">
            <a:avLst/>
          </a:prstGeom>
          <a:noFill/>
        </p:spPr>
        <p:txBody>
          <a:bodyPr wrap="square" lIns="73152" rIns="73152" anchor="t"/>
          <a:lstStyle/>
          <a:p>
            <a:pPr algn="l" marL="0" indent="0">
              <a:spcAft>
                <a:spcPts val="300"/>
              </a:spcAft>
              <a:buNone/>
            </a:pPr>
            <a:r>
              <a:rPr sz="850" b="1" i="0">
                <a:solidFill>
                  <a:srgbClr val="1F3864"/>
                </a:solidFill>
                <a:latin typeface="Arial"/>
              </a:rPr>
              <a:t>Lidén &amp; Joborn 2017  </a:t>
            </a:r>
            <a:r>
              <a:rPr sz="850" b="0" i="0">
                <a:solidFill>
                  <a:srgbClr val="1A1A1A"/>
                </a:solidFill>
                <a:latin typeface="Arial"/>
              </a:rPr>
              <a:t>Lidén, T. and Joborn, M. An optimization model for integrated planning of railway traffic and network maintenance. Transportation Research Part C 74: 327–347.</a:t>
            </a:r>
            <a:r>
              <a:rPr sz="850" b="0" i="0">
                <a:solidFill>
                  <a:srgbClr val="1A1A1A"/>
                </a:solidFill>
                <a:latin typeface="Arial"/>
              </a:rPr>
              <a:t> </a:t>
            </a:r>
            <a:r>
              <a:rPr sz="850" b="0" i="0">
                <a:solidFill>
                  <a:srgbClr val="0070C0"/>
                </a:solidFill>
                <a:latin typeface="Arial"/>
                <a:hlinkClick r:id="rId8"/>
              </a:rPr>
              <a:t>doi.org/10.1016/j.trc.2016.11.016</a:t>
            </a:r>
          </a:p>
          <a:p>
            <a:pPr algn="l" marL="0" indent="0">
              <a:spcAft>
                <a:spcPts val="300"/>
              </a:spcAft>
              <a:buNone/>
            </a:pPr>
            <a:r>
              <a:rPr sz="850" b="1" i="0">
                <a:solidFill>
                  <a:srgbClr val="1F3864"/>
                </a:solidFill>
                <a:latin typeface="Arial"/>
              </a:rPr>
              <a:t>Lidén et al. 2018  </a:t>
            </a:r>
            <a:r>
              <a:rPr sz="850" b="0" i="0">
                <a:solidFill>
                  <a:srgbClr val="1A1A1A"/>
                </a:solidFill>
                <a:latin typeface="Arial"/>
              </a:rPr>
              <a:t>Lidén, T., Kalinowski, T. and Waterer, H. Resource considerations for integrated planning of railway traffic and maintenance windows. J. Rail Transport Planning &amp; Management 8(1): 1–15.</a:t>
            </a:r>
            <a:r>
              <a:rPr sz="850" b="0" i="0">
                <a:solidFill>
                  <a:srgbClr val="1A1A1A"/>
                </a:solidFill>
                <a:latin typeface="Arial"/>
              </a:rPr>
              <a:t> </a:t>
            </a:r>
            <a:r>
              <a:rPr sz="850" b="0" i="0">
                <a:solidFill>
                  <a:srgbClr val="0070C0"/>
                </a:solidFill>
                <a:latin typeface="Arial"/>
                <a:hlinkClick r:id="rId9"/>
              </a:rPr>
              <a:t>doi.org/10.1016/j.jrtpm.2018.02.001</a:t>
            </a:r>
          </a:p>
          <a:p>
            <a:pPr algn="l" marL="0" indent="0">
              <a:spcAft>
                <a:spcPts val="300"/>
              </a:spcAft>
              <a:buNone/>
            </a:pPr>
            <a:r>
              <a:rPr sz="850" b="1" i="0">
                <a:solidFill>
                  <a:srgbClr val="1F3864"/>
                </a:solidFill>
                <a:latin typeface="Arial"/>
              </a:rPr>
              <a:t>D'Ariano et al. 2019  </a:t>
            </a:r>
            <a:r>
              <a:rPr sz="850" b="0" i="0">
                <a:solidFill>
                  <a:srgbClr val="1A1A1A"/>
                </a:solidFill>
                <a:latin typeface="Arial"/>
              </a:rPr>
              <a:t>D'Ariano, A., Meng, L., Centulio, G. and Corman, F. Integrated stochastic optimization approaches for tactical scheduling of trains and railway infrastructure maintenance. Computers &amp; Industrial Engineering 127: 1315–1335.</a:t>
            </a:r>
            <a:r>
              <a:rPr sz="850" b="0" i="0">
                <a:solidFill>
                  <a:srgbClr val="1A1A1A"/>
                </a:solidFill>
                <a:latin typeface="Arial"/>
              </a:rPr>
              <a:t> </a:t>
            </a:r>
            <a:r>
              <a:rPr sz="850" b="0" i="0">
                <a:solidFill>
                  <a:srgbClr val="0070C0"/>
                </a:solidFill>
                <a:latin typeface="Arial"/>
                <a:hlinkClick r:id="rId10"/>
              </a:rPr>
              <a:t>doi.org/10.1016/j.cie.2017.12.010</a:t>
            </a:r>
          </a:p>
          <a:p>
            <a:pPr algn="l" marL="0" indent="0">
              <a:spcAft>
                <a:spcPts val="0"/>
              </a:spcAft>
              <a:buNone/>
            </a:pPr>
            <a:r>
              <a:rPr sz="850" b="1" i="0">
                <a:solidFill>
                  <a:srgbClr val="1F3864"/>
                </a:solidFill>
                <a:latin typeface="Arial"/>
              </a:rPr>
              <a:t>Peng &amp; Ouyang 2014  </a:t>
            </a:r>
            <a:r>
              <a:rPr sz="850" b="0" i="0">
                <a:solidFill>
                  <a:srgbClr val="1A1A1A"/>
                </a:solidFill>
                <a:latin typeface="Arial"/>
              </a:rPr>
              <a:t>Peng, F. and Ouyang, Y. Optimal clustering of railroad track maintenance jobs. Computer-Aided Civil and Infrastructure Engineering 29(4): 235–247.</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